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slides/charts/chart1.xml" ContentType="application/vnd.openxmlformats-officedocument.drawingml.chart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slides/charts/chart2.xml" ContentType="application/vnd.openxmlformats-officedocument.drawingml.chart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slides/charts/chart3.xml" ContentType="application/vnd.openxmlformats-officedocument.drawingml.chart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slides/charts/chart4.xml" ContentType="application/vnd.openxmlformats-officedocument.drawingml.chart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slides/charts/chart5.xml" ContentType="application/vnd.openxmlformats-officedocument.drawingml.chart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slides/charts/chart6.xml" ContentType="application/vnd.openxmlformats-officedocument.drawingml.chart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slides/charts/chart7.xml" ContentType="application/vnd.openxmlformats-officedocument.drawingml.chart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slides/charts/chart8.xml" ContentType="application/vnd.openxmlformats-officedocument.drawingml.chart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c5d4864534341e9" /><Relationship Type="http://schemas.openxmlformats.org/officeDocument/2006/relationships/extended-properties" Target="/docProps/app.xml" Id="R6f6098a3a1b94dbb" /><Relationship Type="http://schemas.openxmlformats.org/officeDocument/2006/relationships/officeDocument" Target="/ppt/presentation.xml" Id="Rc8c8e50cf7a04e6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eb1a78ea8b24d6f"/>
  </p:sldMasterIdLst>
  <p:notesMasterIdLst>
    <p:notesMasterId xmlns:r="http://schemas.openxmlformats.org/officeDocument/2006/relationships" r:id="R1c78e669f59c4a2a"/>
  </p:notesMasterIdLst>
  <p:sldIdLst>
    <p:sldId xmlns:r="http://schemas.openxmlformats.org/officeDocument/2006/relationships" id="256" r:id="R6ee124f2294f47bb"/>
    <p:sldId xmlns:r="http://schemas.openxmlformats.org/officeDocument/2006/relationships" id="257" r:id="Rc0c79d3e7b1e43e2"/>
    <p:sldId xmlns:r="http://schemas.openxmlformats.org/officeDocument/2006/relationships" id="258" r:id="Rb8857f7695c54d0c"/>
    <p:sldId xmlns:r="http://schemas.openxmlformats.org/officeDocument/2006/relationships" id="259" r:id="R2f51de51f423433f"/>
    <p:sldId xmlns:r="http://schemas.openxmlformats.org/officeDocument/2006/relationships" id="260" r:id="Rbbf3eafb57a5436c"/>
    <p:sldId xmlns:r="http://schemas.openxmlformats.org/officeDocument/2006/relationships" id="261" r:id="Re13e49b8a8174f64"/>
    <p:sldId xmlns:r="http://schemas.openxmlformats.org/officeDocument/2006/relationships" id="262" r:id="Refe8c00fda584f72"/>
    <p:sldId xmlns:r="http://schemas.openxmlformats.org/officeDocument/2006/relationships" id="263" r:id="Ra4d3da104b804c9d"/>
    <p:sldId xmlns:r="http://schemas.openxmlformats.org/officeDocument/2006/relationships" id="264" r:id="R493ec48711dc40e5"/>
    <p:sldId xmlns:r="http://schemas.openxmlformats.org/officeDocument/2006/relationships" id="265" r:id="R3ab39798bedb43c5"/>
    <p:sldId xmlns:r="http://schemas.openxmlformats.org/officeDocument/2006/relationships" id="266" r:id="R0933eac4deb34612"/>
    <p:sldId xmlns:r="http://schemas.openxmlformats.org/officeDocument/2006/relationships" id="267" r:id="Re00c47809acc4233"/>
    <p:sldId xmlns:r="http://schemas.openxmlformats.org/officeDocument/2006/relationships" id="268" r:id="R0fac78133512412c"/>
    <p:sldId xmlns:r="http://schemas.openxmlformats.org/officeDocument/2006/relationships" id="269" r:id="Rc39122fd20824962"/>
    <p:sldId xmlns:r="http://schemas.openxmlformats.org/officeDocument/2006/relationships" id="270" r:id="R2ecae7e01d324f99"/>
    <p:sldId xmlns:r="http://schemas.openxmlformats.org/officeDocument/2006/relationships" id="271" r:id="Rbb636a908f844624"/>
    <p:sldId xmlns:r="http://schemas.openxmlformats.org/officeDocument/2006/relationships" id="272" r:id="R5bf1a2449f054661"/>
    <p:sldId xmlns:r="http://schemas.openxmlformats.org/officeDocument/2006/relationships" id="273" r:id="R8ec0ae1176d540e6"/>
    <p:sldId xmlns:r="http://schemas.openxmlformats.org/officeDocument/2006/relationships" id="274" r:id="R71aee1010f9a4e65"/>
    <p:sldId xmlns:r="http://schemas.openxmlformats.org/officeDocument/2006/relationships" id="275" r:id="R4c88968f917d48d9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d89026c525e4742" /><Relationship Type="http://schemas.openxmlformats.org/officeDocument/2006/relationships/slideMaster" Target="/ppt/slideMasters/slideMaster1.xml" Id="Reeb1a78ea8b24d6f" /><Relationship Type="http://schemas.openxmlformats.org/officeDocument/2006/relationships/notesMaster" Target="/ppt/notesMasters/notesMaster1.xml" Id="R1c78e669f59c4a2a" /><Relationship Type="http://schemas.openxmlformats.org/officeDocument/2006/relationships/presProps" Target="/ppt/presProps.xml" Id="Ra7d16f8fa6e94e9c" /><Relationship Type="http://schemas.openxmlformats.org/officeDocument/2006/relationships/tableStyles" Target="/ppt/tableStyles.xml" Id="Rd52c1bd3c6eb4c9e" /><Relationship Type="http://schemas.openxmlformats.org/officeDocument/2006/relationships/slide" Target="/ppt/slides/slide1.xml" Id="R6ee124f2294f47bb" /><Relationship Type="http://schemas.openxmlformats.org/officeDocument/2006/relationships/slide" Target="/ppt/slides/slide2.xml" Id="Rc0c79d3e7b1e43e2" /><Relationship Type="http://schemas.openxmlformats.org/officeDocument/2006/relationships/slide" Target="/ppt/slides/slide3.xml" Id="Rb8857f7695c54d0c" /><Relationship Type="http://schemas.openxmlformats.org/officeDocument/2006/relationships/slide" Target="/ppt/slides/slide4.xml" Id="R2f51de51f423433f" /><Relationship Type="http://schemas.openxmlformats.org/officeDocument/2006/relationships/slide" Target="/ppt/slides/slide5.xml" Id="Rbbf3eafb57a5436c" /><Relationship Type="http://schemas.openxmlformats.org/officeDocument/2006/relationships/slide" Target="/ppt/slides/slide6.xml" Id="Re13e49b8a8174f64" /><Relationship Type="http://schemas.openxmlformats.org/officeDocument/2006/relationships/slide" Target="/ppt/slides/slide7.xml" Id="Refe8c00fda584f72" /><Relationship Type="http://schemas.openxmlformats.org/officeDocument/2006/relationships/slide" Target="/ppt/slides/slide8.xml" Id="Ra4d3da104b804c9d" /><Relationship Type="http://schemas.openxmlformats.org/officeDocument/2006/relationships/slide" Target="/ppt/slides/slide9.xml" Id="R493ec48711dc40e5" /><Relationship Type="http://schemas.openxmlformats.org/officeDocument/2006/relationships/slide" Target="/ppt/slides/slide10.xml" Id="R3ab39798bedb43c5" /><Relationship Type="http://schemas.openxmlformats.org/officeDocument/2006/relationships/slide" Target="/ppt/slides/slide11.xml" Id="R0933eac4deb34612" /><Relationship Type="http://schemas.openxmlformats.org/officeDocument/2006/relationships/slide" Target="/ppt/slides/slide12.xml" Id="Re00c47809acc4233" /><Relationship Type="http://schemas.openxmlformats.org/officeDocument/2006/relationships/slide" Target="/ppt/slides/slide13.xml" Id="R0fac78133512412c" /><Relationship Type="http://schemas.openxmlformats.org/officeDocument/2006/relationships/slide" Target="/ppt/slides/slide14.xml" Id="Rc39122fd20824962" /><Relationship Type="http://schemas.openxmlformats.org/officeDocument/2006/relationships/slide" Target="/ppt/slides/slide15.xml" Id="R2ecae7e01d324f99" /><Relationship Type="http://schemas.openxmlformats.org/officeDocument/2006/relationships/slide" Target="/ppt/slides/slide16.xml" Id="Rbb636a908f844624" /><Relationship Type="http://schemas.openxmlformats.org/officeDocument/2006/relationships/slide" Target="/ppt/slides/slide17.xml" Id="R5bf1a2449f054661" /><Relationship Type="http://schemas.openxmlformats.org/officeDocument/2006/relationships/slide" Target="/ppt/slides/slide18.xml" Id="R8ec0ae1176d540e6" /><Relationship Type="http://schemas.openxmlformats.org/officeDocument/2006/relationships/slide" Target="/ppt/slides/slide19.xml" Id="R71aee1010f9a4e65" /><Relationship Type="http://schemas.openxmlformats.org/officeDocument/2006/relationships/slide" Target="/ppt/slides/slide20.xml" Id="R4c88968f917d48d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9b35416e12d471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9e16459fede4618" /><Relationship Type="http://schemas.openxmlformats.org/officeDocument/2006/relationships/notesMaster" Target="/ppt/notesMasters/notesMaster1.xml" Id="R57d8c84d26d4440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ab8a80512724c44" /><Relationship Type="http://schemas.openxmlformats.org/officeDocument/2006/relationships/notesMaster" Target="/ppt/notesMasters/notesMaster1.xml" Id="Red3776a567d7477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376805272d24145" /><Relationship Type="http://schemas.openxmlformats.org/officeDocument/2006/relationships/notesMaster" Target="/ppt/notesMasters/notesMaster1.xml" Id="R42a5c4f5a6264ce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21222a362cf43e2" /><Relationship Type="http://schemas.openxmlformats.org/officeDocument/2006/relationships/notesMaster" Target="/ppt/notesMasters/notesMaster1.xml" Id="R6848dfab6a04444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4e86411494d4eb6" /><Relationship Type="http://schemas.openxmlformats.org/officeDocument/2006/relationships/notesMaster" Target="/ppt/notesMasters/notesMaster1.xml" Id="Rc7c226a5baec4d0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7f22668a2e04489" /><Relationship Type="http://schemas.openxmlformats.org/officeDocument/2006/relationships/notesMaster" Target="/ppt/notesMasters/notesMaster1.xml" Id="R7dd52addd29b474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0cd0a38bfca4396" /><Relationship Type="http://schemas.openxmlformats.org/officeDocument/2006/relationships/notesMaster" Target="/ppt/notesMasters/notesMaster1.xml" Id="Ra1c53e83816d448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0b5ea4044d64683" /><Relationship Type="http://schemas.openxmlformats.org/officeDocument/2006/relationships/notesMaster" Target="/ppt/notesMasters/notesMaster1.xml" Id="R29e26444bbbf45c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16911ef7abb4cd3" /><Relationship Type="http://schemas.openxmlformats.org/officeDocument/2006/relationships/notesMaster" Target="/ppt/notesMasters/notesMaster1.xml" Id="R60a5731e8ddd4f9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625eeff87154398" /><Relationship Type="http://schemas.openxmlformats.org/officeDocument/2006/relationships/notesMaster" Target="/ppt/notesMasters/notesMaster1.xml" Id="Rfdc46367f44f4ade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471bfe6dc68748d0" /><Relationship Type="http://schemas.openxmlformats.org/officeDocument/2006/relationships/notesMaster" Target="/ppt/notesMasters/notesMaster1.xml" Id="Ra32d40e0fe8a422d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8f39aff7b8f14aa7" /><Relationship Type="http://schemas.openxmlformats.org/officeDocument/2006/relationships/notesMaster" Target="/ppt/notesMasters/notesMaster1.xml" Id="Rcc01c6ba61ff43e8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188c52faa87946df" /><Relationship Type="http://schemas.openxmlformats.org/officeDocument/2006/relationships/notesMaster" Target="/ppt/notesMasters/notesMaster1.xml" Id="R49d6bd986b364fbc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0f49a4e97b8f43d6" /><Relationship Type="http://schemas.openxmlformats.org/officeDocument/2006/relationships/notesMaster" Target="/ppt/notesMasters/notesMaster1.xml" Id="R2c4cc4f2d4454353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531e6f26507049b1" /><Relationship Type="http://schemas.openxmlformats.org/officeDocument/2006/relationships/notesMaster" Target="/ppt/notesMasters/notesMaster1.xml" Id="Rc83423633d1d433a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c0fd128e88084aa7" /><Relationship Type="http://schemas.openxmlformats.org/officeDocument/2006/relationships/notesMaster" Target="/ppt/notesMasters/notesMaster1.xml" Id="Rbbfd3ba37ad2485a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b233daad3a224042" /><Relationship Type="http://schemas.openxmlformats.org/officeDocument/2006/relationships/notesMaster" Target="/ppt/notesMasters/notesMaster1.xml" Id="Rfa33b17d162a4594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7818bdd7664b4678" /><Relationship Type="http://schemas.openxmlformats.org/officeDocument/2006/relationships/notesMaster" Target="/ppt/notesMasters/notesMaster1.xml" Id="Rc8c8a1d669c4402a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6d3229e08010474d" /><Relationship Type="http://schemas.openxmlformats.org/officeDocument/2006/relationships/notesMaster" Target="/ppt/notesMasters/notesMaster1.xml" Id="R2d5df8f606934f91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4b4a849e261d4aee" /><Relationship Type="http://schemas.openxmlformats.org/officeDocument/2006/relationships/notesMaster" Target="/ppt/notesMasters/notesMaster1.xml" Id="Rccd61851c685496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synthetic project source: Data/dim_product.csv</a:t>
            </a:r>
          </a:p>
          <a:p xmlns:a="http://schemas.openxmlformats.org/drawingml/2006/main">
            <a:r>
              <a:t>- Internal synthetic project source: Data/dim_calendar.csv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synthetic project source: Data/monthly_performance.csv</a:t>
            </a:r>
          </a:p>
          <a:p xmlns:a="http://schemas.openxmlformats.org/drawingml/2006/main">
            <a:r>
              <a:t>- Internal synthetic project source: Data/model_comparison.csv</a:t>
            </a:r>
          </a:p>
          <a:p xmlns:a="http://schemas.openxmlformats.org/drawingml/2006/main">
            <a:r>
              <a:t>- Internal synthetic project source: Data/scenario_summary.csv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synthetic project source: docs/methodology.md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synthetic project source: README.md</a:t>
            </a:r>
          </a:p>
          <a:p xmlns:a="http://schemas.openxmlformats.org/drawingml/2006/main">
            <a:r>
              <a:t>- Internal synthetic project source: docs/methodology.md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synthetic project source: Data/fact_weekly_sales.csv</a:t>
            </a:r>
          </a:p>
          <a:p xmlns:a="http://schemas.openxmlformats.org/drawingml/2006/main">
            <a:r>
              <a:t>- Internal synthetic project source: Data/fact_inventory_snapshot.csv</a:t>
            </a:r>
          </a:p>
          <a:p xmlns:a="http://schemas.openxmlformats.org/drawingml/2006/main">
            <a:r>
              <a:t>- Internal synthetic project source: Data/fact_purchase_orders.csv</a:t>
            </a:r>
          </a:p>
          <a:p xmlns:a="http://schemas.openxmlformats.org/drawingml/2006/main">
            <a:r>
              <a:t>- Internal synthetic project source: Data/forecast_results.csv</a:t>
            </a:r>
          </a:p>
          <a:p xmlns:a="http://schemas.openxmlformats.org/drawingml/2006/main">
            <a:r>
              <a:t>- Internal synthetic project source: Data/inventory_scenarios.csv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synthetic project source: Python/src/ecom_opt/run_pipeline.py</a:t>
            </a:r>
          </a:p>
          <a:p xmlns:a="http://schemas.openxmlformats.org/drawingml/2006/main">
            <a:r>
              <a:t>- Internal synthetic project source: SQL/ecommerce_demand_inventory.db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synthetic project source: docs/data_dictionary.md</a:t>
            </a:r>
          </a:p>
          <a:p xmlns:a="http://schemas.openxmlformats.org/drawingml/2006/main">
            <a:r>
              <a:t>- Internal synthetic project source: PowerBI/Ecommerce_Demand_Inventory_PBIP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synthetic project source: Data/monthly_performance.csv</a:t>
            </a:r>
          </a:p>
          <a:p xmlns:a="http://schemas.openxmlformats.org/drawingml/2006/main">
            <a:r>
              <a:t>- Internal synthetic project source: Data/category_performance.csv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synthetic project source: Data/monthly_performance.csv</a:t>
            </a:r>
          </a:p>
          <a:p xmlns:a="http://schemas.openxmlformats.org/drawingml/2006/main">
            <a:r>
              <a:t>- Internal synthetic project source: Data/fact_promotions.csv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synthetic project source: Python/src/ecom_opt/forecasting.py</a:t>
            </a:r>
          </a:p>
          <a:p xmlns:a="http://schemas.openxmlformats.org/drawingml/2006/main">
            <a:r>
              <a:t>- Internal synthetic project source: Data/model_comparison.csv</a:t>
            </a:r>
          </a:p>
          <a:p xmlns:a="http://schemas.openxmlformats.org/drawingml/2006/main">
            <a:r>
              <a:t>- Official methodology reference: https://scikit-learn.org/stable/modules/generated/sklearn.ensemble.HistGradientBoostingRegressor.html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synthetic project source: Data/model_comparison.csv</a:t>
            </a:r>
          </a:p>
          <a:p xmlns:a="http://schemas.openxmlformats.org/drawingml/2006/main">
            <a:r>
              <a:t>- Internal synthetic project source: Data/forecast_backtest.csv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synthetic project source: Data/forecast_results.csv</a:t>
            </a:r>
          </a:p>
          <a:p xmlns:a="http://schemas.openxmlformats.org/drawingml/2006/main">
            <a:r>
              <a:t>- Internal synthetic project source: Data/forecast_monthly.csv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synthetic project source: Python/src/ecom_opt/inventory.py</a:t>
            </a:r>
          </a:p>
          <a:p xmlns:a="http://schemas.openxmlformats.org/drawingml/2006/main">
            <a:r>
              <a:t>- Internal synthetic project source: Data/replenishment_recommendations.csv</a:t>
            </a:r>
          </a:p>
          <a:p xmlns:a="http://schemas.openxmlformats.org/drawingml/2006/main">
            <a:r>
              <a:t>- Official statistical reference: https://docs.scipy.org/doc/scipy/reference/generated/scipy.stats.norm.html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synthetic project source: Data/replenishment_recommendations.csv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synthetic project source: Data/replenishment_recommendations.csv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synthetic project source: Data/supplier_scorecard.csv</a:t>
            </a:r>
          </a:p>
          <a:p xmlns:a="http://schemas.openxmlformats.org/drawingml/2006/main">
            <a:r>
              <a:t>- Internal synthetic project source: Data/fact_purchase_orders.csv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synthetic project source: Data/scenario_summary.csv</a:t>
            </a:r>
          </a:p>
          <a:p xmlns:a="http://schemas.openxmlformats.org/drawingml/2006/main">
            <a:r>
              <a:t>- Internal synthetic project source: Data/inventory_scenarios.csv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synthetic project source: Excel/Ecommerce_Demand_Inventory_Scenario_Planner.xlsx</a:t>
            </a:r>
          </a:p>
          <a:p xmlns:a="http://schemas.openxmlformats.org/drawingml/2006/main">
            <a:r>
              <a:t>- Internal synthetic project source: PowerBI/Ecommerce_Demand_Inventory_PBIP</a:t>
            </a:r>
          </a:p>
          <a:p xmlns:a="http://schemas.openxmlformats.org/drawingml/2006/main">
            <a:r>
              <a:t>- Internal synthetic project source: Reports/Ecommerce_Demand_Inventory_10_Page_Vector_HD.pdf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synthetic project source: Reports/Ecommerce_Demand_Inventory_10_Page_Vector_HD.pdf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synthetic project source: README.md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6285adabd38456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67325eab7e449bb" /><Relationship Type="http://schemas.openxmlformats.org/officeDocument/2006/relationships/slideLayout" Target="/ppt/slideLayouts/slideLayout1.xml" Id="R240df33ff01b4d4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40df33ff01b4d4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4dc8f5c83f480a" /><Relationship Type="http://schemas.openxmlformats.org/officeDocument/2006/relationships/notesSlide" Target="/ppt/notesSlides/notesSlide1.xml" Id="R0e79d4e65eff4ac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7c157d90d64047" /><Relationship Type="http://schemas.openxmlformats.org/officeDocument/2006/relationships/notesSlide" Target="/ppt/notesSlides/notesSlide2.xml" Id="R860ec0d438c743f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f437040f254229" /><Relationship Type="http://schemas.openxmlformats.org/officeDocument/2006/relationships/notesSlide" Target="/ppt/notesSlides/notesSlide3.xml" Id="R31a011d54d8041a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8c27fafdd24264" /><Relationship Type="http://schemas.openxmlformats.org/officeDocument/2006/relationships/notesSlide" Target="/ppt/notesSlides/notesSlide4.xml" Id="R108093b8b6c2467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68c11a05a64f08" /><Relationship Type="http://schemas.openxmlformats.org/officeDocument/2006/relationships/notesSlide" Target="/ppt/notesSlides/notesSlide5.xml" Id="R9fbafde2342d433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2b12fecaf1465e" /><Relationship Type="http://schemas.openxmlformats.org/officeDocument/2006/relationships/notesSlide" Target="/ppt/notesSlides/notesSlide6.xml" Id="R416be8116c8b468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aaefb81b4a4cc6" /><Relationship Type="http://schemas.openxmlformats.org/officeDocument/2006/relationships/notesSlide" Target="/ppt/notesSlides/notesSlide7.xml" Id="R2e0be3ba1b5e4f4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f97a5ebe7c4984" /><Relationship Type="http://schemas.openxmlformats.org/officeDocument/2006/relationships/chart" Target="/ppt/slides/charts/chart1.xml" Id="R8eeadae465d341c4" /><Relationship Type="http://schemas.openxmlformats.org/officeDocument/2006/relationships/notesSlide" Target="/ppt/notesSlides/notesSlide8.xml" Id="Rf2ed0d55f41f46a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c05d87f1564b1f" /><Relationship Type="http://schemas.openxmlformats.org/officeDocument/2006/relationships/chart" Target="/ppt/slides/charts/chart2.xml" Id="Rcf41eda0d9b14871" /><Relationship Type="http://schemas.openxmlformats.org/officeDocument/2006/relationships/notesSlide" Target="/ppt/notesSlides/notesSlide9.xml" Id="R4c44f7b40ed94b1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e2d103626c4d01" /><Relationship Type="http://schemas.openxmlformats.org/officeDocument/2006/relationships/notesSlide" Target="/ppt/notesSlides/notesSlide10.xml" Id="R4f63147614be45cf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2e55b2b16040a7" /><Relationship Type="http://schemas.openxmlformats.org/officeDocument/2006/relationships/chart" Target="/ppt/slides/charts/chart3.xml" Id="Rb821cc92ba634fc3" /><Relationship Type="http://schemas.openxmlformats.org/officeDocument/2006/relationships/notesSlide" Target="/ppt/notesSlides/notesSlide11.xml" Id="R33fb664158314ef2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10c576ff2648aa" /><Relationship Type="http://schemas.openxmlformats.org/officeDocument/2006/relationships/chart" Target="/ppt/slides/charts/chart4.xml" Id="Re89ea2d024374889" /><Relationship Type="http://schemas.openxmlformats.org/officeDocument/2006/relationships/notesSlide" Target="/ppt/notesSlides/notesSlide12.xml" Id="R16aa39a0d98c411b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a68616d55c48ca" /><Relationship Type="http://schemas.openxmlformats.org/officeDocument/2006/relationships/notesSlide" Target="/ppt/notesSlides/notesSlide13.xml" Id="R927e3b1237fe4113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2a4a7898604261" /><Relationship Type="http://schemas.openxmlformats.org/officeDocument/2006/relationships/chart" Target="/ppt/slides/charts/chart5.xml" Id="Re326ccc124cc41f3" /><Relationship Type="http://schemas.openxmlformats.org/officeDocument/2006/relationships/notesSlide" Target="/ppt/notesSlides/notesSlide14.xml" Id="R279cf00bd4644599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f16f5fce534dc6" /><Relationship Type="http://schemas.openxmlformats.org/officeDocument/2006/relationships/chart" Target="/ppt/slides/charts/chart6.xml" Id="R9c19fe256bd14be5" /><Relationship Type="http://schemas.openxmlformats.org/officeDocument/2006/relationships/notesSlide" Target="/ppt/notesSlides/notesSlide15.xml" Id="Rc19c9d74411b4aa2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ebe0003318430e" /><Relationship Type="http://schemas.openxmlformats.org/officeDocument/2006/relationships/chart" Target="/ppt/slides/charts/chart7.xml" Id="Ra92e2b6da93b4742" /><Relationship Type="http://schemas.openxmlformats.org/officeDocument/2006/relationships/notesSlide" Target="/ppt/notesSlides/notesSlide16.xml" Id="R563e86695f164c02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e7507b7a1e4ff9" /><Relationship Type="http://schemas.openxmlformats.org/officeDocument/2006/relationships/chart" Target="/ppt/slides/charts/chart8.xml" Id="Rebc0c4427a8345aa" /><Relationship Type="http://schemas.openxmlformats.org/officeDocument/2006/relationships/notesSlide" Target="/ppt/notesSlides/notesSlide17.xml" Id="R17f841bdc5fe4778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2fe74707014831" /><Relationship Type="http://schemas.openxmlformats.org/officeDocument/2006/relationships/notesSlide" Target="/ppt/notesSlides/notesSlide18.xml" Id="R9d42607322114c1d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04f723d16a4025" /><Relationship Type="http://schemas.openxmlformats.org/officeDocument/2006/relationships/notesSlide" Target="/ppt/notesSlides/notesSlide19.xml" Id="R0d50330096f14570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e1db40a4c345bf" /><Relationship Type="http://schemas.openxmlformats.org/officeDocument/2006/relationships/notesSlide" Target="/ppt/notesSlides/notesSlide20.xml" Id="R546106896bf94ca5" /></Relationships>
</file>

<file path=ppt/slides/charts/chart1.xml><?xml version="1.0" encoding="utf-8"?>
<c:chartSpace xmlns:c="http://schemas.openxmlformats.org/drawingml/2006/chart">
  <c:lang val="en-US"/>
  <c:chart>
    <c:plotArea>
      <c:lineChart>
        <c:grouping val="standard"/>
        <c:varyColors val="0"/>
        <c:ser>
          <c:idx val="0"/>
          <c:order val="0"/>
          <c:tx>
            <c:v>Ciro (M TRY)</c:v>
          </c:tx>
          <c:spPr>
            <a:ln xmlns:a="http://schemas.openxmlformats.org/drawingml/2006/main" w="28575">
              <a:solidFill>
                <a:srgbClr val="3D8DFF"/>
              </a:solidFill>
              <a:prstDash val="solid"/>
            </a:ln>
          </c:spPr>
          <c:marker>
            <c:symbol val="circle"/>
            <c:size val="4"/>
          </c:marker>
          <c:cat>
            <c:strLit>
              <c:ptCount val="36"/>
              <c:pt idx="0">
                <c:v>2023-01</c:v>
              </c:pt>
              <c:pt idx="1">
                <c:v>2023-02</c:v>
              </c:pt>
              <c:pt idx="2">
                <c:v>2023-03</c:v>
              </c:pt>
              <c:pt idx="3">
                <c:v>2023-04</c:v>
              </c:pt>
              <c:pt idx="4">
                <c:v>2023-05</c:v>
              </c:pt>
              <c:pt idx="5">
                <c:v>2023-06</c:v>
              </c:pt>
              <c:pt idx="6">
                <c:v>2023-07</c:v>
              </c:pt>
              <c:pt idx="7">
                <c:v>2023-08</c:v>
              </c:pt>
              <c:pt idx="8">
                <c:v>2023-09</c:v>
              </c:pt>
              <c:pt idx="9">
                <c:v>2023-10</c:v>
              </c:pt>
              <c:pt idx="10">
                <c:v>2023-11</c:v>
              </c:pt>
              <c:pt idx="11">
                <c:v>2023-12</c:v>
              </c:pt>
              <c:pt idx="12">
                <c:v>2024-01</c:v>
              </c:pt>
              <c:pt idx="13">
                <c:v>2024-02</c:v>
              </c:pt>
              <c:pt idx="14">
                <c:v>2024-03</c:v>
              </c:pt>
              <c:pt idx="15">
                <c:v>2024-04</c:v>
              </c:pt>
              <c:pt idx="16">
                <c:v>2024-05</c:v>
              </c:pt>
              <c:pt idx="17">
                <c:v>2024-06</c:v>
              </c:pt>
              <c:pt idx="18">
                <c:v>2024-07</c:v>
              </c:pt>
              <c:pt idx="19">
                <c:v>2024-08</c:v>
              </c:pt>
              <c:pt idx="20">
                <c:v>2024-09</c:v>
              </c:pt>
              <c:pt idx="21">
                <c:v>2024-10</c:v>
              </c:pt>
              <c:pt idx="22">
                <c:v>2024-11</c:v>
              </c:pt>
              <c:pt idx="23">
                <c:v>2024-12</c:v>
              </c:pt>
              <c:pt idx="24">
                <c:v>2025-01</c:v>
              </c:pt>
              <c:pt idx="25">
                <c:v>2025-02</c:v>
              </c:pt>
              <c:pt idx="26">
                <c:v>2025-03</c:v>
              </c:pt>
              <c:pt idx="27">
                <c:v>2025-04</c:v>
              </c:pt>
              <c:pt idx="28">
                <c:v>2025-05</c:v>
              </c:pt>
              <c:pt idx="29">
                <c:v>2025-06</c:v>
              </c:pt>
              <c:pt idx="30">
                <c:v>2025-07</c:v>
              </c:pt>
              <c:pt idx="31">
                <c:v>2025-08</c:v>
              </c:pt>
              <c:pt idx="32">
                <c:v>2025-09</c:v>
              </c:pt>
              <c:pt idx="33">
                <c:v>2025-10</c:v>
              </c:pt>
              <c:pt idx="34">
                <c:v>2025-11</c:v>
              </c:pt>
              <c:pt idx="35">
                <c:v>2025-12</c:v>
              </c:pt>
            </c:strLit>
          </c:cat>
          <c:val>
            <c:numLit>
              <c:formatCode>0.0</c:formatCode>
              <c:ptCount val="36"/>
              <c:pt idx="0">
                <c:v>28.651604199999998</c:v>
              </c:pt>
              <c:pt idx="1">
                <c:v>22.550934</c:v>
              </c:pt>
              <c:pt idx="2">
                <c:v>23.1200622</c:v>
              </c:pt>
              <c:pt idx="3">
                <c:v>23.3938508</c:v>
              </c:pt>
              <c:pt idx="4">
                <c:v>28.676542</c:v>
              </c:pt>
              <c:pt idx="5">
                <c:v>23.5347028</c:v>
              </c:pt>
              <c:pt idx="6">
                <c:v>29.625929600000003</c:v>
              </c:pt>
              <c:pt idx="7">
                <c:v>23.2918716</c:v>
              </c:pt>
              <c:pt idx="8">
                <c:v>23.727578</c:v>
              </c:pt>
              <c:pt idx="9">
                <c:v>28.775301</c:v>
              </c:pt>
              <c:pt idx="10">
                <c:v>25.4141</c:v>
              </c:pt>
              <c:pt idx="11">
                <c:v>22.9028768</c:v>
              </c:pt>
              <c:pt idx="12">
                <c:v>26.666321</c:v>
              </c:pt>
              <c:pt idx="13">
                <c:v>22.0305358</c:v>
              </c:pt>
              <c:pt idx="14">
                <c:v>23.2728604</c:v>
              </c:pt>
              <c:pt idx="15">
                <c:v>28.2716128</c:v>
              </c:pt>
              <c:pt idx="16">
                <c:v>22.4965322</c:v>
              </c:pt>
              <c:pt idx="17">
                <c:v>21.954417600000003</c:v>
              </c:pt>
              <c:pt idx="18">
                <c:v>26.825370399999997</c:v>
              </c:pt>
              <c:pt idx="19">
                <c:v>21.1410284</c:v>
              </c:pt>
              <c:pt idx="20">
                <c:v>27.765102199999998</c:v>
              </c:pt>
              <c:pt idx="21">
                <c:v>21.8636812</c:v>
              </c:pt>
              <c:pt idx="22">
                <c:v>24.9608366</c:v>
              </c:pt>
              <c:pt idx="23">
                <c:v>26.1379497</c:v>
              </c:pt>
              <c:pt idx="24">
                <c:v>20.839552</c:v>
              </c:pt>
              <c:pt idx="25">
                <c:v>22.0554476</c:v>
              </c:pt>
              <c:pt idx="26">
                <c:v>28.7664288</c:v>
              </c:pt>
              <c:pt idx="27">
                <c:v>22.483145399999998</c:v>
              </c:pt>
              <c:pt idx="28">
                <c:v>22.465750800000002</c:v>
              </c:pt>
              <c:pt idx="29">
                <c:v>27.659127</c:v>
              </c:pt>
              <c:pt idx="30">
                <c:v>20.1828632</c:v>
              </c:pt>
              <c:pt idx="31">
                <c:v>22.554720399999997</c:v>
              </c:pt>
              <c:pt idx="32">
                <c:v>28.666390399999997</c:v>
              </c:pt>
              <c:pt idx="33">
                <c:v>22.854291</c:v>
              </c:pt>
              <c:pt idx="34">
                <c:v>26.2427034</c:v>
              </c:pt>
              <c:pt idx="35">
                <c:v>29.902337199999998</c:v>
              </c:pt>
            </c:numLit>
          </c:val>
        </c:ser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CE3ED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  <c:max val="35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CE3ED"/>
              </a:solidFill>
              <a:prstDash val="solid"/>
            </a:ln>
          </c:spPr>
        </c:majorGridlines>
        <c:numFmt formatCode="0.0"/>
        <c:majorTickMark val="none"/>
        <c:minorTickMark val="none"/>
        <c:spPr>
          <a:ln xmlns:a="http://schemas.openxmlformats.org/drawingml/2006/main" w="0">
            <a:solidFill>
              <a:srgbClr val="FFFFF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 w="0">
          <a:solidFill>
            <a:srgbClr val="FFFFFF"/>
          </a:solidFill>
          <a:prstDash val="solid"/>
        </a:ln>
      </c:spPr>
    </c:plotArea>
    <c:legend>
      <c:legendPos val="b"/>
      <c:overlay val="0"/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charts/chart2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Talep</c:v>
          </c:tx>
          <c:spPr>
            <a:solidFill xmlns:a="http://schemas.openxmlformats.org/drawingml/2006/main">
              <a:srgbClr val="6DCBF4"/>
            </a:solidFill>
          </c:spPr>
          <c:cat>
            <c:strLit>
              <c:ptCount val="12"/>
              <c:pt idx="0">
                <c:v>2023-01</c:v>
              </c:pt>
              <c:pt idx="1">
                <c:v>2023-04</c:v>
              </c:pt>
              <c:pt idx="2">
                <c:v>2023-07</c:v>
              </c:pt>
              <c:pt idx="3">
                <c:v>2023-10</c:v>
              </c:pt>
              <c:pt idx="4">
                <c:v>2024-01</c:v>
              </c:pt>
              <c:pt idx="5">
                <c:v>2024-04</c:v>
              </c:pt>
              <c:pt idx="6">
                <c:v>2024-07</c:v>
              </c:pt>
              <c:pt idx="7">
                <c:v>2024-10</c:v>
              </c:pt>
              <c:pt idx="8">
                <c:v>2025-01</c:v>
              </c:pt>
              <c:pt idx="9">
                <c:v>2025-04</c:v>
              </c:pt>
              <c:pt idx="10">
                <c:v>2025-07</c:v>
              </c:pt>
              <c:pt idx="11">
                <c:v>2025-10</c:v>
              </c:pt>
            </c:strLit>
          </c:cat>
          <c:val>
            <c:numLit>
              <c:formatCode>0.0</c:formatCode>
              <c:ptCount val="12"/>
              <c:pt idx="0">
                <c:v>17.699</c:v>
              </c:pt>
              <c:pt idx="1">
                <c:v>13.335</c:v>
              </c:pt>
              <c:pt idx="2">
                <c:v>18.454009999999997</c:v>
              </c:pt>
              <c:pt idx="3">
                <c:v>16.883</c:v>
              </c:pt>
              <c:pt idx="4">
                <c:v>17.84301</c:v>
              </c:pt>
              <c:pt idx="5">
                <c:v>17.50298</c:v>
              </c:pt>
              <c:pt idx="6">
                <c:v>20.346</c:v>
              </c:pt>
              <c:pt idx="7">
                <c:v>14.871</c:v>
              </c:pt>
              <c:pt idx="8">
                <c:v>16.68899</c:v>
              </c:pt>
              <c:pt idx="9">
                <c:v>15.78201</c:v>
              </c:pt>
              <c:pt idx="10">
                <c:v>16.52996</c:v>
              </c:pt>
              <c:pt idx="11">
                <c:v>15.72801</c:v>
              </c:pt>
            </c:numLit>
          </c:val>
        </c:ser>
        <c:ser>
          <c:idx val="1"/>
          <c:order val="1"/>
          <c:tx>
            <c:v>Satış</c:v>
          </c:tx>
          <c:spPr>
            <a:solidFill xmlns:a="http://schemas.openxmlformats.org/drawingml/2006/main">
              <a:srgbClr val="3D8DFF"/>
            </a:solidFill>
          </c:spPr>
          <c:cat>
            <c:strLit>
              <c:ptCount val="12"/>
              <c:pt idx="0">
                <c:v>2023-01</c:v>
              </c:pt>
              <c:pt idx="1">
                <c:v>2023-04</c:v>
              </c:pt>
              <c:pt idx="2">
                <c:v>2023-07</c:v>
              </c:pt>
              <c:pt idx="3">
                <c:v>2023-10</c:v>
              </c:pt>
              <c:pt idx="4">
                <c:v>2024-01</c:v>
              </c:pt>
              <c:pt idx="5">
                <c:v>2024-04</c:v>
              </c:pt>
              <c:pt idx="6">
                <c:v>2024-07</c:v>
              </c:pt>
              <c:pt idx="7">
                <c:v>2024-10</c:v>
              </c:pt>
              <c:pt idx="8">
                <c:v>2025-01</c:v>
              </c:pt>
              <c:pt idx="9">
                <c:v>2025-04</c:v>
              </c:pt>
              <c:pt idx="10">
                <c:v>2025-07</c:v>
              </c:pt>
              <c:pt idx="11">
                <c:v>2025-10</c:v>
              </c:pt>
            </c:strLit>
          </c:cat>
          <c:val>
            <c:numLit>
              <c:formatCode>0.0</c:formatCode>
              <c:ptCount val="12"/>
              <c:pt idx="0">
                <c:v>17.699</c:v>
              </c:pt>
              <c:pt idx="1">
                <c:v>13.306</c:v>
              </c:pt>
              <c:pt idx="2">
                <c:v>18.075</c:v>
              </c:pt>
              <c:pt idx="3">
                <c:v>16.53</c:v>
              </c:pt>
              <c:pt idx="4">
                <c:v>16.306</c:v>
              </c:pt>
              <c:pt idx="5">
                <c:v>16.291</c:v>
              </c:pt>
              <c:pt idx="6">
                <c:v>16.902</c:v>
              </c:pt>
              <c:pt idx="7">
                <c:v>12.729</c:v>
              </c:pt>
              <c:pt idx="8">
                <c:v>12.805</c:v>
              </c:pt>
              <c:pt idx="9">
                <c:v>12.883</c:v>
              </c:pt>
              <c:pt idx="10">
                <c:v>12.363</c:v>
              </c:pt>
              <c:pt idx="11">
                <c:v>13.073</c:v>
              </c:pt>
            </c:numLit>
          </c:val>
        </c:ser>
        <c:ser>
          <c:idx val="2"/>
          <c:order val="2"/>
          <c:tx>
            <c:v>Satış kaybı</c:v>
          </c:tx>
          <c:spPr>
            <a:solidFill xmlns:a="http://schemas.openxmlformats.org/drawingml/2006/main">
              <a:srgbClr val="D64545"/>
            </a:solidFill>
          </c:spPr>
          <c:cat>
            <c:strLit>
              <c:ptCount val="12"/>
              <c:pt idx="0">
                <c:v>2023-01</c:v>
              </c:pt>
              <c:pt idx="1">
                <c:v>2023-04</c:v>
              </c:pt>
              <c:pt idx="2">
                <c:v>2023-07</c:v>
              </c:pt>
              <c:pt idx="3">
                <c:v>2023-10</c:v>
              </c:pt>
              <c:pt idx="4">
                <c:v>2024-01</c:v>
              </c:pt>
              <c:pt idx="5">
                <c:v>2024-04</c:v>
              </c:pt>
              <c:pt idx="6">
                <c:v>2024-07</c:v>
              </c:pt>
              <c:pt idx="7">
                <c:v>2024-10</c:v>
              </c:pt>
              <c:pt idx="8">
                <c:v>2025-01</c:v>
              </c:pt>
              <c:pt idx="9">
                <c:v>2025-04</c:v>
              </c:pt>
              <c:pt idx="10">
                <c:v>2025-07</c:v>
              </c:pt>
              <c:pt idx="11">
                <c:v>2025-10</c:v>
              </c:pt>
            </c:strLit>
          </c:cat>
          <c:val>
            <c:numLit>
              <c:formatCode>0.0</c:formatCode>
              <c:ptCount val="12"/>
              <c:pt idx="0">
                <c:v>0</c:v>
              </c:pt>
              <c:pt idx="1">
                <c:v>0.029</c:v>
              </c:pt>
              <c:pt idx="2">
                <c:v>0.37901</c:v>
              </c:pt>
              <c:pt idx="3">
                <c:v>0.353</c:v>
              </c:pt>
              <c:pt idx="4">
                <c:v>1.53701</c:v>
              </c:pt>
              <c:pt idx="5">
                <c:v>1.21198</c:v>
              </c:pt>
              <c:pt idx="6">
                <c:v>3.444</c:v>
              </c:pt>
              <c:pt idx="7">
                <c:v>2.142</c:v>
              </c:pt>
              <c:pt idx="8">
                <c:v>3.88399</c:v>
              </c:pt>
              <c:pt idx="9">
                <c:v>2.89901</c:v>
              </c:pt>
              <c:pt idx="10">
                <c:v>4.16696</c:v>
              </c:pt>
              <c:pt idx="11">
                <c:v>2.65501</c:v>
              </c:pt>
            </c:numLit>
          </c:val>
        </c:ser>
        <c:dLbls>
          <c:dLblPos val="outEnd"/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9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CE3ED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  <c:max val="3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CE3ED"/>
              </a:solidFill>
              <a:prstDash val="solid"/>
            </a:ln>
          </c:spPr>
        </c:majorGridlines>
        <c:numFmt formatCode="0.0"/>
        <c:majorTickMark val="none"/>
        <c:minorTickMark val="none"/>
        <c:spPr>
          <a:ln xmlns:a="http://schemas.openxmlformats.org/drawingml/2006/main" w="0">
            <a:solidFill>
              <a:srgbClr val="FFFFF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 w="0">
          <a:solidFill>
            <a:srgbClr val="FFFFFF"/>
          </a:solidFill>
          <a:prstDash val="solid"/>
        </a:ln>
      </c:spPr>
    </c:plotArea>
    <c:legend>
      <c:legendPos val="b"/>
      <c:overlay val="0"/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charts/chart3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WAPE</c:v>
          </c:tx>
          <c:spPr>
            <a:solidFill xmlns:a="http://schemas.openxmlformats.org/drawingml/2006/main">
              <a:srgbClr val="3D8DFF"/>
            </a:solidFill>
          </c:spPr>
          <c:cat>
            <c:strLit>
              <c:ptCount val="3"/>
              <c:pt idx="0">
                <c:v>Gradient Boosting</c:v>
              </c:pt>
              <c:pt idx="1">
                <c:v>Mevsimsel Naif</c:v>
              </c:pt>
              <c:pt idx="2">
                <c:v>8 Haftalık Hareketli Ort.</c:v>
              </c:pt>
            </c:strLit>
          </c:cat>
          <c:val>
            <c:numLit>
              <c:formatCode>0.0</c:formatCode>
              <c:ptCount val="3"/>
              <c:pt idx="0">
                <c:v>15.86064166666667</c:v>
              </c:pt>
              <c:pt idx="1">
                <c:v>20.396810000000006</c:v>
              </c:pt>
              <c:pt idx="2">
                <c:v>25.698356666666673</c:v>
              </c:pt>
            </c:numLit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9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CE3ED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  <c:max val="3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CE3ED"/>
              </a:solidFill>
              <a:prstDash val="solid"/>
            </a:ln>
          </c:spPr>
        </c:majorGridlines>
        <c:numFmt formatCode="0.0"/>
        <c:majorTickMark val="none"/>
        <c:minorTickMark val="none"/>
        <c:spPr>
          <a:ln xmlns:a="http://schemas.openxmlformats.org/drawingml/2006/main" w="0">
            <a:solidFill>
              <a:srgbClr val="FFFFF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 w="0">
          <a:solidFill>
            <a:srgbClr val="FFFFFF"/>
          </a:solidFill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charts/chart4.xml><?xml version="1.0" encoding="utf-8"?>
<c:chartSpace xmlns:c="http://schemas.openxmlformats.org/drawingml/2006/chart">
  <c:lang val="en-US"/>
  <c:chart>
    <c:plotArea>
      <c:lineChart>
        <c:grouping val="standard"/>
        <c:varyColors val="0"/>
        <c:ser>
          <c:idx val="0"/>
          <c:order val="0"/>
          <c:tx>
            <c:v>Tahmin (bin adet)</c:v>
          </c:tx>
          <c:spPr>
            <a:ln xmlns:a="http://schemas.openxmlformats.org/drawingml/2006/main" w="28575">
              <a:solidFill>
                <a:srgbClr val="3D8DFF"/>
              </a:solidFill>
              <a:prstDash val="solid"/>
            </a:ln>
          </c:spPr>
          <c:marker>
            <c:symbol val="circle"/>
            <c:size val="4"/>
          </c:marker>
          <c:cat>
            <c:strLit>
              <c:ptCount val="12"/>
              <c:pt idx="0">
                <c:v>2026-01</c:v>
              </c:pt>
              <c:pt idx="1">
                <c:v>2026-02</c:v>
              </c:pt>
              <c:pt idx="2">
                <c:v>2026-03</c:v>
              </c:pt>
              <c:pt idx="3">
                <c:v>2026-04</c:v>
              </c:pt>
              <c:pt idx="4">
                <c:v>2026-05</c:v>
              </c:pt>
              <c:pt idx="5">
                <c:v>2026-06</c:v>
              </c:pt>
              <c:pt idx="6">
                <c:v>2026-07</c:v>
              </c:pt>
              <c:pt idx="7">
                <c:v>2026-08</c:v>
              </c:pt>
              <c:pt idx="8">
                <c:v>2026-09</c:v>
              </c:pt>
              <c:pt idx="9">
                <c:v>2026-10</c:v>
              </c:pt>
              <c:pt idx="10">
                <c:v>2026-11</c:v>
              </c:pt>
              <c:pt idx="11">
                <c:v>2026-12</c:v>
              </c:pt>
            </c:strLit>
          </c:cat>
          <c:val>
            <c:numLit>
              <c:formatCode>0.0</c:formatCode>
              <c:ptCount val="12"/>
              <c:pt idx="0">
                <c:v>18.594899</c:v>
              </c:pt>
              <c:pt idx="1">
                <c:v>17.00659</c:v>
              </c:pt>
              <c:pt idx="2">
                <c:v>23.51857</c:v>
              </c:pt>
              <c:pt idx="3">
                <c:v>17.390907</c:v>
              </c:pt>
              <c:pt idx="4">
                <c:v>17.401864</c:v>
              </c:pt>
              <c:pt idx="5">
                <c:v>23.271833</c:v>
              </c:pt>
              <c:pt idx="6">
                <c:v>17.728404</c:v>
              </c:pt>
              <c:pt idx="7">
                <c:v>20.688385999999998</c:v>
              </c:pt>
              <c:pt idx="8">
                <c:v>17.623041</c:v>
              </c:pt>
              <c:pt idx="9">
                <c:v>16.368719</c:v>
              </c:pt>
              <c:pt idx="10">
                <c:v>30.686362999999997</c:v>
              </c:pt>
              <c:pt idx="11">
                <c:v>22.163352</c:v>
              </c:pt>
            </c:numLit>
          </c:val>
        </c:ser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CE3ED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  <c:max val="4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CE3ED"/>
              </a:solidFill>
              <a:prstDash val="solid"/>
            </a:ln>
          </c:spPr>
        </c:majorGridlines>
        <c:numFmt formatCode="0.0"/>
        <c:majorTickMark val="none"/>
        <c:minorTickMark val="none"/>
        <c:spPr>
          <a:ln xmlns:a="http://schemas.openxmlformats.org/drawingml/2006/main" w="0">
            <a:solidFill>
              <a:srgbClr val="FFFFF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 w="0">
          <a:solidFill>
            <a:srgbClr val="FFFFFF"/>
          </a:solidFill>
          <a:prstDash val="solid"/>
        </a:ln>
      </c:spPr>
    </c:plotArea>
    <c:legend>
      <c:legendPos val="b"/>
      <c:overlay val="0"/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charts/chart5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WOS</c:v>
          </c:tx>
          <c:spPr>
            <a:solidFill xmlns:a="http://schemas.openxmlformats.org/drawingml/2006/main">
              <a:srgbClr val="6DCBF4"/>
            </a:solidFill>
          </c:spPr>
          <c:cat>
            <c:strLit>
              <c:ptCount val="6"/>
              <c:pt idx="0">
                <c:v>Triko</c:v>
              </c:pt>
              <c:pt idx="1">
                <c:v>Dış Giyim</c:v>
              </c:pt>
              <c:pt idx="2">
                <c:v>Üst Giyim</c:v>
              </c:pt>
              <c:pt idx="3">
                <c:v>Alt Giyim</c:v>
              </c:pt>
              <c:pt idx="4">
                <c:v>Elbiseler</c:v>
              </c:pt>
              <c:pt idx="5">
                <c:v>Aksesuarlar</c:v>
              </c:pt>
            </c:strLit>
          </c:cat>
          <c:val>
            <c:numLit>
              <c:formatCode>0.0</c:formatCode>
              <c:ptCount val="6"/>
              <c:pt idx="0">
                <c:v>5.0779</c:v>
              </c:pt>
              <c:pt idx="1">
                <c:v>5.375499999999999</c:v>
              </c:pt>
              <c:pt idx="2">
                <c:v>5.4955</c:v>
              </c:pt>
              <c:pt idx="3">
                <c:v>5.956</c:v>
              </c:pt>
              <c:pt idx="4">
                <c:v>6.015700000000001</c:v>
              </c:pt>
              <c:pt idx="5">
                <c:v>6.3165</c:v>
              </c:pt>
            </c:numLit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9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CE3ED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  <c:max val="8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CE3ED"/>
              </a:solidFill>
              <a:prstDash val="solid"/>
            </a:ln>
          </c:spPr>
        </c:majorGridlines>
        <c:numFmt formatCode="0.0"/>
        <c:majorTickMark val="none"/>
        <c:minorTickMark val="none"/>
        <c:spPr>
          <a:ln xmlns:a="http://schemas.openxmlformats.org/drawingml/2006/main" w="0">
            <a:solidFill>
              <a:srgbClr val="FFFFF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 w="0">
          <a:solidFill>
            <a:srgbClr val="FFFFFF"/>
          </a:solidFill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charts/chart6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Yatırım (M TRY)</c:v>
          </c:tx>
          <c:spPr>
            <a:solidFill xmlns:a="http://schemas.openxmlformats.org/drawingml/2006/main">
              <a:srgbClr val="F59E0B"/>
            </a:solidFill>
          </c:spPr>
          <c:cat>
            <c:strLit>
              <c:ptCount val="8"/>
              <c:pt idx="0">
                <c:v>DRE-003</c:v>
              </c:pt>
              <c:pt idx="1">
                <c:v>DRE-002</c:v>
              </c:pt>
              <c:pt idx="2">
                <c:v>DRE-008</c:v>
              </c:pt>
              <c:pt idx="3">
                <c:v>BOT-004</c:v>
              </c:pt>
              <c:pt idx="4">
                <c:v>OUT-009</c:v>
              </c:pt>
              <c:pt idx="5">
                <c:v>TOP-005</c:v>
              </c:pt>
              <c:pt idx="6">
                <c:v>KNI-008</c:v>
              </c:pt>
              <c:pt idx="7">
                <c:v>KNI-009</c:v>
              </c:pt>
            </c:strLit>
          </c:cat>
          <c:val>
            <c:numLit>
              <c:formatCode>0.0</c:formatCode>
              <c:ptCount val="8"/>
              <c:pt idx="0">
                <c:v>0.41856856</c:v>
              </c:pt>
              <c:pt idx="1">
                <c:v>0.4179504</c:v>
              </c:pt>
              <c:pt idx="2">
                <c:v>0.3693525</c:v>
              </c:pt>
              <c:pt idx="3">
                <c:v>0.32070192</c:v>
              </c:pt>
              <c:pt idx="4">
                <c:v>0.29084679999999996</c:v>
              </c:pt>
              <c:pt idx="5">
                <c:v>0.23683404</c:v>
              </c:pt>
              <c:pt idx="6">
                <c:v>0.19766879999999998</c:v>
              </c:pt>
              <c:pt idx="7">
                <c:v>0.1491168</c:v>
              </c:pt>
            </c:numLit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9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CE3ED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  <c:max val="0.5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CE3ED"/>
              </a:solidFill>
              <a:prstDash val="solid"/>
            </a:ln>
          </c:spPr>
        </c:majorGridlines>
        <c:numFmt formatCode="0.0"/>
        <c:majorTickMark val="none"/>
        <c:minorTickMark val="none"/>
        <c:spPr>
          <a:ln xmlns:a="http://schemas.openxmlformats.org/drawingml/2006/main" w="0">
            <a:solidFill>
              <a:srgbClr val="FFFFF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 w="0">
          <a:solidFill>
            <a:srgbClr val="FFFFFF"/>
          </a:solidFill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charts/chart7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Satın alma (M TRY)</c:v>
          </c:tx>
          <c:spPr>
            <a:solidFill xmlns:a="http://schemas.openxmlformats.org/drawingml/2006/main">
              <a:srgbClr val="3D8DFF"/>
            </a:solidFill>
          </c:spPr>
          <c:cat>
            <c:strLit>
              <c:ptCount val="8"/>
              <c:pt idx="0">
                <c:v>SUP-001</c:v>
              </c:pt>
              <c:pt idx="1">
                <c:v>SUP-007</c:v>
              </c:pt>
              <c:pt idx="2">
                <c:v>SUP-005</c:v>
              </c:pt>
              <c:pt idx="3">
                <c:v>SUP-006</c:v>
              </c:pt>
              <c:pt idx="4">
                <c:v>SUP-002</c:v>
              </c:pt>
              <c:pt idx="5">
                <c:v>SUP-003</c:v>
              </c:pt>
              <c:pt idx="6">
                <c:v>SUP-004</c:v>
              </c:pt>
              <c:pt idx="7">
                <c:v>SUP-008</c:v>
              </c:pt>
            </c:strLit>
          </c:cat>
          <c:val>
            <c:numLit>
              <c:formatCode>0.0</c:formatCode>
              <c:ptCount val="8"/>
              <c:pt idx="0">
                <c:v>65.37911835999999</c:v>
              </c:pt>
              <c:pt idx="1">
                <c:v>60.62398812</c:v>
              </c:pt>
              <c:pt idx="2">
                <c:v>56.54697182</c:v>
              </c:pt>
              <c:pt idx="3">
                <c:v>51.98740256</c:v>
              </c:pt>
              <c:pt idx="4">
                <c:v>39.38756206</c:v>
              </c:pt>
              <c:pt idx="5">
                <c:v>38.06718488</c:v>
              </c:pt>
              <c:pt idx="6">
                <c:v>34.80103332</c:v>
              </c:pt>
              <c:pt idx="7">
                <c:v>26.896810440000003</c:v>
              </c:pt>
            </c:numLit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9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CE3ED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  <c:max val="7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CE3ED"/>
              </a:solidFill>
              <a:prstDash val="solid"/>
            </a:ln>
          </c:spPr>
        </c:majorGridlines>
        <c:numFmt formatCode="0.0"/>
        <c:majorTickMark val="none"/>
        <c:minorTickMark val="none"/>
        <c:spPr>
          <a:ln xmlns:a="http://schemas.openxmlformats.org/drawingml/2006/main" w="0">
            <a:solidFill>
              <a:srgbClr val="FFFFF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 w="0">
          <a:solidFill>
            <a:srgbClr val="FFFFFF"/>
          </a:solidFill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charts/chart8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Ciro (M TRY)</c:v>
          </c:tx>
          <c:spPr>
            <a:solidFill xmlns:a="http://schemas.openxmlformats.org/drawingml/2006/main">
              <a:srgbClr val="3D8DFF"/>
            </a:solidFill>
          </c:spPr>
          <c:cat>
            <c:strLit>
              <c:ptCount val="4"/>
              <c:pt idx="0">
                <c:v>Baz</c:v>
              </c:pt>
              <c:pt idx="1">
                <c:v>Büyüme</c:v>
              </c:pt>
              <c:pt idx="2">
                <c:v>Yalın</c:v>
              </c:pt>
              <c:pt idx="3">
                <c:v>Dayanıklılık</c:v>
              </c:pt>
            </c:strLit>
          </c:cat>
          <c:val>
            <c:numLit>
              <c:formatCode>0.0</c:formatCode>
              <c:ptCount val="4"/>
              <c:pt idx="0">
                <c:v>397.83212374</c:v>
              </c:pt>
              <c:pt idx="1">
                <c:v>457.50694226</c:v>
              </c:pt>
              <c:pt idx="2">
                <c:v>358.04891136000003</c:v>
              </c:pt>
              <c:pt idx="3">
                <c:v>417.72372991000003</c:v>
              </c:pt>
            </c:numLit>
          </c:val>
        </c:ser>
        <c:ser>
          <c:idx val="1"/>
          <c:order val="1"/>
          <c:tx>
            <c:v>Stok yatırımı (M TRY)</c:v>
          </c:tx>
          <c:spPr>
            <a:solidFill xmlns:a="http://schemas.openxmlformats.org/drawingml/2006/main">
              <a:srgbClr val="F59E0B"/>
            </a:solidFill>
          </c:spPr>
          <c:cat>
            <c:strLit>
              <c:ptCount val="4"/>
              <c:pt idx="0">
                <c:v>Baz</c:v>
              </c:pt>
              <c:pt idx="1">
                <c:v>Büyüme</c:v>
              </c:pt>
              <c:pt idx="2">
                <c:v>Yalın</c:v>
              </c:pt>
              <c:pt idx="3">
                <c:v>Dayanıklılık</c:v>
              </c:pt>
            </c:strLit>
          </c:cat>
          <c:val>
            <c:numLit>
              <c:formatCode>0.0</c:formatCode>
              <c:ptCount val="4"/>
              <c:pt idx="0">
                <c:v>5.3293229</c:v>
              </c:pt>
              <c:pt idx="1">
                <c:v>8.18008228</c:v>
              </c:pt>
              <c:pt idx="2">
                <c:v>3.78807104</c:v>
              </c:pt>
              <c:pt idx="3">
                <c:v>13.5158969</c:v>
              </c:pt>
            </c:numLit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9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CE3ED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  <c:max val="50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CE3ED"/>
              </a:solidFill>
              <a:prstDash val="solid"/>
            </a:ln>
          </c:spPr>
        </c:majorGridlines>
        <c:numFmt formatCode="0.0"/>
        <c:majorTickMark val="none"/>
        <c:minorTickMark val="none"/>
        <c:spPr>
          <a:ln xmlns:a="http://schemas.openxmlformats.org/drawingml/2006/main" w="0">
            <a:solidFill>
              <a:srgbClr val="FFFFF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 w="0">
          <a:solidFill>
            <a:srgbClr val="FFFFFF"/>
          </a:solidFill>
          <a:prstDash val="solid"/>
        </a:ln>
      </c:spPr>
    </c:plotArea>
    <c:legend>
      <c:legendPos val="b"/>
      <c:overlay val="0"/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13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0AC3D53-827C-49D1-959B-2FA0DC5C2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191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CBF4"/>
                </a:solidFill>
              </a:defRPr>
            </a:pPr>
            <a:r>
              <a:rPr sz="975" b="1">
                <a:solidFill>
                  <a:srgbClr val="6DCBF4"/>
                </a:solidFill>
              </a:rPr>
              <a:t>PROFESYONEL PORTFÖY PROJESİ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F1A33C-CAD5-4A3D-842F-915A9851E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85900"/>
            <a:ext cx="7810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FFFFFF"/>
                </a:solidFill>
              </a:defRPr>
            </a:pPr>
            <a:r>
              <a:rPr sz="3900" b="1">
                <a:solidFill>
                  <a:srgbClr val="FFFFFF"/>
                </a:solidFill>
              </a:rPr>
              <a:t>E-Ticaret Talep Tahmini</a:t>
            </a:r>
          </a:p>
          <a:p xmlns:a="http://schemas.openxmlformats.org/drawingml/2006/main">
            <a:pPr algn="l">
              <a:defRPr sz="3900" b="1">
                <a:solidFill>
                  <a:srgbClr val="FFFFFF"/>
                </a:solidFill>
              </a:defRPr>
            </a:pPr>
            <a:r>
              <a:rPr sz="3900" b="1">
                <a:solidFill>
                  <a:srgbClr val="FFFFFF"/>
                </a:solidFill>
              </a:rPr>
              <a:t>ve Stok Optimizasyonu Platformu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C09682-8CD0-4FF6-9C25-F54D7BEC0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00"/>
            <a:ext cx="723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D7E3F7"/>
                </a:solidFill>
              </a:defRPr>
            </a:pPr>
            <a:r>
              <a:rPr sz="1500" b="0">
                <a:solidFill>
                  <a:srgbClr val="D7E3F7"/>
                </a:solidFill>
              </a:rPr>
              <a:t>İstatistiksel tahminleme, makine öğrenmesi, SQL, Power BI ve stok karar bilimi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DF8BCE-10F0-46FF-84E4-212C7CF28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762500"/>
            <a:ext cx="1714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FA9942-BEA3-455F-A414-7C56D6057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143500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Murat Miraç Gedik  |  Temmuz 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9E00FAA-113A-4523-96A2-CF7E44922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38875"/>
            <a:ext cx="590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B9C7DB"/>
                </a:solidFill>
              </a:defRPr>
            </a:pPr>
            <a:r>
              <a:rPr sz="750" b="0">
                <a:solidFill>
                  <a:srgbClr val="B9C7DB"/>
                </a:solidFill>
              </a:rPr>
              <a:t>MonacoLuxe ilhamlı sentetik portföy verisi | TRY | 2023-2026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683A32-BD93-4FC1-B098-3DF35BDEA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466850"/>
            <a:ext cx="2476500" cy="342900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14213D"/>
          </a:solidFill>
          <a:ln xmlns:a="http://schemas.openxmlformats.org/drawingml/2006/main" w="9525">
            <a:solidFill>
              <a:srgbClr val="29415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2FF47C4-BEDB-40D3-80AD-A8D65E9BA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790700"/>
            <a:ext cx="857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6DCBF4"/>
                </a:solidFill>
              </a:defRPr>
            </a:pPr>
            <a:r>
              <a:rPr sz="2100" b="1">
                <a:solidFill>
                  <a:srgbClr val="6DCBF4"/>
                </a:solidFill>
              </a:rPr>
              <a:t>60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68F9336-92F1-4270-B11E-E904C0406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15265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D7E3F7"/>
                </a:solidFill>
              </a:defRPr>
            </a:pPr>
            <a:r>
              <a:rPr sz="975" b="0">
                <a:solidFill>
                  <a:srgbClr val="D7E3F7"/>
                </a:solidFill>
              </a:rPr>
              <a:t>SKU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63B5DDB-A00D-44A6-9C0E-CC02B8DFA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533650"/>
            <a:ext cx="857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3D8DFF"/>
                </a:solidFill>
              </a:defRPr>
            </a:pPr>
            <a:r>
              <a:rPr sz="2100" b="1">
                <a:solidFill>
                  <a:srgbClr val="3D8DFF"/>
                </a:solidFill>
              </a:rPr>
              <a:t>157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E38A228-D916-4A50-A723-D07BF417E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89560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D7E3F7"/>
                </a:solidFill>
              </a:defRPr>
            </a:pPr>
            <a:r>
              <a:rPr sz="975" b="0">
                <a:solidFill>
                  <a:srgbClr val="D7E3F7"/>
                </a:solidFill>
              </a:rPr>
              <a:t>tarihsel hafta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67B48ED-75DD-4CCA-B4F5-D324BC4C2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276600"/>
            <a:ext cx="857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6DCBF4"/>
                </a:solidFill>
              </a:defRPr>
            </a:pPr>
            <a:r>
              <a:rPr sz="2100" b="1">
                <a:solidFill>
                  <a:srgbClr val="6DCBF4"/>
                </a:solidFill>
              </a:rPr>
              <a:t>52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E399E7C-6FD6-406F-8A8B-608444104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63855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D7E3F7"/>
                </a:solidFill>
              </a:defRPr>
            </a:pPr>
            <a:r>
              <a:rPr sz="975" b="0">
                <a:solidFill>
                  <a:srgbClr val="D7E3F7"/>
                </a:solidFill>
              </a:rPr>
              <a:t>tahmin haftası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2C9DD83-8ADF-4274-9BF7-1713FC28D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019550"/>
            <a:ext cx="857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3D8DFF"/>
                </a:solidFill>
              </a:defRPr>
            </a:pPr>
            <a:r>
              <a:rPr sz="2100" b="1">
                <a:solidFill>
                  <a:srgbClr val="3D8DFF"/>
                </a:solidFill>
              </a:rPr>
              <a:t>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6F0E966-0EA4-40BA-B410-B6836D4DA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38150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D7E3F7"/>
                </a:solidFill>
              </a:defRPr>
            </a:pPr>
            <a:r>
              <a:rPr sz="975" b="0">
                <a:solidFill>
                  <a:srgbClr val="D7E3F7"/>
                </a:solidFill>
              </a:rPr>
              <a:t>stok senaryosu</a:t>
            </a:r>
          </a:p>
        </p:txBody>
      </p:sp>
    </p:spTree>
    <p:extLst>
      <p:ext uri="{BB962C8B-B14F-4D97-AF65-F5344CB8AC3E}">
        <p14:creationId xmlns:p14="http://schemas.microsoft.com/office/powerpoint/2010/main" val="39160990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">
            <a:extLst xmlns:a="http://schemas.openxmlformats.org/drawingml/2006/main">
              <a:ext uri="{FF2B5EF4-FFF2-40B4-BE49-F238E27FC236}">
                <a16:creationId xmlns:a16="http://schemas.microsoft.com/office/drawing/2014/main" id="{886A6665-8F95-403C-8A86-E3A52E6DD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76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D8DFF"/>
                </a:solidFill>
              </a:defRPr>
            </a:pPr>
            <a:r>
              <a:rPr sz="900" b="1">
                <a:solidFill>
                  <a:srgbClr val="3D8DFF"/>
                </a:solidFill>
              </a:rPr>
              <a:t>E-COMMERCE DEMAND &amp; INVENTORY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83EF7AD6-F78D-4360-83DB-90A39D617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3875"/>
            <a:ext cx="7810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32B"/>
                </a:solidFill>
              </a:defRPr>
            </a:pPr>
            <a:r>
              <a:rPr sz="2550" b="1">
                <a:solidFill>
                  <a:srgbClr val="0B132B"/>
                </a:solidFill>
              </a:rPr>
              <a:t>Yönetici Özeti</a:t>
            </a:r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D05ECCF1-FE10-4219-B2D2-AFD7B5EED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590550"/>
            <a:ext cx="3476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67085"/>
                </a:solidFill>
              </a:defRPr>
            </a:pPr>
            <a:r>
              <a:rPr sz="975" b="0">
                <a:solidFill>
                  <a:srgbClr val="667085"/>
                </a:solidFill>
              </a:rPr>
              <a:t>Karar senaryosunu özetleyen dört temel gösterge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32E905-BE0B-4317-8304-3F54E7E9B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66800"/>
            <a:ext cx="11391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01EB55-6CC8-43E6-A530-6C3567BFC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3890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67085"/>
                </a:solidFill>
              </a:defRPr>
            </a:pPr>
            <a:r>
              <a:rPr sz="825" b="1">
                <a:solidFill>
                  <a:srgbClr val="667085"/>
                </a:solidFill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4EFDA8-43FE-480B-B03E-F9A1027FA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09700"/>
            <a:ext cx="2705100" cy="1381125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7BD8394-5867-4A8E-BACB-910FA08A6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09700"/>
            <a:ext cx="27051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AD57A09-74F7-4B60-97B2-A53F2B318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638300"/>
            <a:ext cx="2324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67085"/>
                </a:solidFill>
              </a:defRPr>
            </a:pPr>
            <a:r>
              <a:rPr sz="900" b="1">
                <a:solidFill>
                  <a:srgbClr val="667085"/>
                </a:solidFill>
              </a:rPr>
              <a:t>TARIHSEL CIRO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2C67C1A-3384-40BC-97FF-BA094007D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943100"/>
            <a:ext cx="2324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3D8DFF"/>
                </a:solidFill>
              </a:defRPr>
            </a:pPr>
            <a:r>
              <a:rPr sz="2100" b="1">
                <a:solidFill>
                  <a:srgbClr val="3D8DFF"/>
                </a:solidFill>
              </a:rPr>
              <a:t>₺891.7M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CB495ED-257E-40E8-B8B9-22282A81E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457450"/>
            <a:ext cx="2324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2023-2025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D3D3CFD-1AA9-43BB-96F6-B863989F6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1409700"/>
            <a:ext cx="2705100" cy="1381125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BBBC5D8-5A89-4764-9791-D199CA0FC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1409700"/>
            <a:ext cx="27051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DCBF4"/>
          </a:solidFill>
          <a:ln xmlns:a="http://schemas.openxmlformats.org/drawingml/2006/main" w="0">
            <a:solidFill>
              <a:srgbClr val="6DCBF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4D39808-02D7-4F52-A940-5B8030729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1638300"/>
            <a:ext cx="2324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67085"/>
                </a:solidFill>
              </a:defRPr>
            </a:pPr>
            <a:r>
              <a:rPr sz="900" b="1">
                <a:solidFill>
                  <a:srgbClr val="667085"/>
                </a:solidFill>
              </a:rPr>
              <a:t>2026 TAHMINI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69F5125-AEBE-4A50-B72C-458AC8D25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1943100"/>
            <a:ext cx="2324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6DCBF4"/>
                </a:solidFill>
              </a:defRPr>
            </a:pPr>
            <a:r>
              <a:rPr sz="2100" b="1">
                <a:solidFill>
                  <a:srgbClr val="6DCBF4"/>
                </a:solidFill>
              </a:rPr>
              <a:t>₺397.8M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948998C-F0F6-4AEA-9F04-7BBDA89A8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457450"/>
            <a:ext cx="2324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Baz senaryo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C52268F-7355-42B3-9271-91682A626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409700"/>
            <a:ext cx="2705100" cy="1381125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E967FAA-D0A4-4A36-82C3-6C726A47B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409700"/>
            <a:ext cx="27051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8A558"/>
          </a:solidFill>
          <a:ln xmlns:a="http://schemas.openxmlformats.org/drawingml/2006/main" w="0">
            <a:solidFill>
              <a:srgbClr val="18A55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E7FE887-987E-474C-8D64-FEF273C29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638300"/>
            <a:ext cx="2324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67085"/>
                </a:solidFill>
              </a:defRPr>
            </a:pPr>
            <a:r>
              <a:rPr sz="900" b="1">
                <a:solidFill>
                  <a:srgbClr val="667085"/>
                </a:solidFill>
              </a:rPr>
              <a:t>ŞAMPIYON WAPE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4DF238C-614A-4AE8-B926-0CE57B54F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943100"/>
            <a:ext cx="2324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A558"/>
                </a:solidFill>
              </a:defRPr>
            </a:pPr>
            <a:r>
              <a:rPr sz="2100" b="1">
                <a:solidFill>
                  <a:srgbClr val="18A558"/>
                </a:solidFill>
              </a:rPr>
              <a:t>15.7%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F30A4BB-4F5B-417F-B015-D5B074DDF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457450"/>
            <a:ext cx="2324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60 SKU geri testi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0256D8B-6EFB-4EFA-8B3C-6EF6A299C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1409700"/>
            <a:ext cx="2819400" cy="1381125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D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882A935-FC3D-4B07-AC22-8E0807E4C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1409700"/>
            <a:ext cx="28194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EEC56AD-661A-4514-BE58-620C9E405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1638300"/>
            <a:ext cx="2438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67085"/>
                </a:solidFill>
              </a:defRPr>
            </a:pPr>
            <a:r>
              <a:rPr sz="900" b="1">
                <a:solidFill>
                  <a:srgbClr val="667085"/>
                </a:solidFill>
              </a:rPr>
              <a:t>STOK YATIRIMI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01BCD8F-27EB-4F9E-8591-CF8D92B3F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1943100"/>
            <a:ext cx="2438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59E0B"/>
                </a:solidFill>
              </a:defRPr>
            </a:pPr>
            <a:r>
              <a:rPr sz="2100" b="1">
                <a:solidFill>
                  <a:srgbClr val="F59E0B"/>
                </a:solidFill>
              </a:rPr>
              <a:t>₺5.3M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68043E9-C48E-46FD-9F43-C1109DA7D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457450"/>
            <a:ext cx="2438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10 SKU sipariş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4F51461-C06C-4571-888B-D34AE969A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162300"/>
            <a:ext cx="11391900" cy="257175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62639CF-8BEB-4CBC-91FD-11CAA415E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162300"/>
            <a:ext cx="5715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5047F0C-D964-4000-AC07-F30722B7F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333750"/>
            <a:ext cx="11029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</a:defRPr>
            </a:pPr>
            <a:r>
              <a:rPr sz="1200" b="1">
                <a:solidFill>
                  <a:srgbClr val="3D8DFF"/>
                </a:solidFill>
              </a:rPr>
              <a:t>Yönetim kararı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C0B36E9-BA85-40F1-A510-E6E0F5867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57600"/>
            <a:ext cx="11029950" cy="1943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2033"/>
                </a:solidFill>
              </a:defRPr>
            </a:pPr>
            <a:r>
              <a:rPr sz="1050" b="0">
                <a:solidFill>
                  <a:srgbClr val="172033"/>
                </a:solidFill>
              </a:rPr>
              <a:t>Baz plan, 2026 için ₺397.8M ciro öngörürken ₺5.3M stok yatırımı gerektiriyor. Portföyde 10 SKU için hemen sipariş aksiyonu bulunuyor. Tahmin yönetişimi, her SKU için en düşük WAPE değerine sahip modeli seçiyor.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137665C-97B0-4585-88A6-6084A0F6A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38900"/>
            <a:ext cx="590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67085"/>
                </a:solidFill>
              </a:defRPr>
            </a:pPr>
            <a:r>
              <a:rPr sz="675" b="0">
                <a:solidFill>
                  <a:srgbClr val="667085"/>
                </a:solidFill>
              </a:rPr>
              <a:t>MonacoLuxe ilhamlı sentetik portföy verisi | TRY | 2023-2026</a:t>
            </a:r>
          </a:p>
        </p:txBody>
      </p:sp>
    </p:spTree>
    <p:extLst>
      <p:ext uri="{BB962C8B-B14F-4D97-AF65-F5344CB8AC3E}">
        <p14:creationId xmlns:p14="http://schemas.microsoft.com/office/powerpoint/2010/main" val="169517137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">
            <a:extLst xmlns:a="http://schemas.openxmlformats.org/drawingml/2006/main">
              <a:ext uri="{FF2B5EF4-FFF2-40B4-BE49-F238E27FC236}">
                <a16:creationId xmlns:a16="http://schemas.microsoft.com/office/drawing/2014/main" id="{8F6BB509-626B-46B6-800A-015253D19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76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D8DFF"/>
                </a:solidFill>
              </a:defRPr>
            </a:pPr>
            <a:r>
              <a:rPr sz="900" b="1">
                <a:solidFill>
                  <a:srgbClr val="3D8DFF"/>
                </a:solidFill>
              </a:rPr>
              <a:t>E-COMMERCE DEMAND &amp; INVENTORY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9BD485CF-38F8-4679-8490-BB1E086FC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3875"/>
            <a:ext cx="7810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32B"/>
                </a:solidFill>
              </a:defRPr>
            </a:pPr>
            <a:r>
              <a:rPr sz="2550" b="1">
                <a:solidFill>
                  <a:srgbClr val="0B132B"/>
                </a:solidFill>
              </a:rPr>
              <a:t>İş Problemi</a:t>
            </a:r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343293E5-6F4E-4F1B-8D96-8D843C852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590550"/>
            <a:ext cx="3476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67085"/>
                </a:solidFill>
              </a:defRPr>
            </a:pPr>
            <a:r>
              <a:rPr sz="975" b="0">
                <a:solidFill>
                  <a:srgbClr val="667085"/>
                </a:solidFill>
              </a:rPr>
              <a:t>Geçmişe dönük raporlamanın neden yeterli olmadığı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1FA51C-42E3-470D-9C90-27962A2C3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66800"/>
            <a:ext cx="11391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D26E83-981E-4C87-BD90-D29E0AAC9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3890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67085"/>
                </a:solidFill>
              </a:defRPr>
            </a:pPr>
            <a:r>
              <a:rPr sz="825" b="1">
                <a:solidFill>
                  <a:srgbClr val="667085"/>
                </a:solidFill>
              </a:rPr>
              <a:t>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757D202-A7FF-48DF-A93D-3A44544D7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24000"/>
            <a:ext cx="3562350" cy="4095750"/>
          </a:xfrm>
          <a:prstGeom xmlns:a="http://schemas.openxmlformats.org/drawingml/2006/main" prst="roundRect">
            <a:avLst>
              <a:gd name="adj" fmla="val 3209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DCE3E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FC8CF9-BCA1-4F88-B2A8-38E72D4C4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90700"/>
            <a:ext cx="857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3D8DFF"/>
                </a:solidFill>
              </a:defRPr>
            </a:pPr>
            <a:r>
              <a:rPr sz="2550" b="1">
                <a:solidFill>
                  <a:srgbClr val="3D8DFF"/>
                </a:solidFill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809D95C-7C46-4F5F-B07B-40A04CE5C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571750"/>
            <a:ext cx="304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B132B"/>
                </a:solidFill>
              </a:defRPr>
            </a:pPr>
            <a:r>
              <a:rPr sz="1725" b="1">
                <a:solidFill>
                  <a:srgbClr val="0B132B"/>
                </a:solidFill>
              </a:rPr>
              <a:t>Talep belirsizliği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AC40601-16B3-49F0-81E7-5F601FDD6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352800"/>
            <a:ext cx="3048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Moda talebi sezon, kampanya ve ürün yaşam döngüsü nedeniyle hızlı değişir.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3A1209C-4246-4E21-942C-6AAC91AF8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1524000"/>
            <a:ext cx="3562350" cy="4095750"/>
          </a:xfrm>
          <a:prstGeom xmlns:a="http://schemas.openxmlformats.org/drawingml/2006/main" prst="roundRect">
            <a:avLst>
              <a:gd name="adj" fmla="val 3209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DCE3E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7DDD555-5DA0-4987-A124-8206F9847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1790700"/>
            <a:ext cx="857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59E0B"/>
                </a:solidFill>
              </a:defRPr>
            </a:pPr>
            <a:r>
              <a:rPr sz="2550" b="1">
                <a:solidFill>
                  <a:srgbClr val="F59E0B"/>
                </a:solidFill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41F644F-8428-425A-B442-CF82CC537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571750"/>
            <a:ext cx="304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B132B"/>
                </a:solidFill>
              </a:defRPr>
            </a:pPr>
            <a:r>
              <a:rPr sz="1725" b="1">
                <a:solidFill>
                  <a:srgbClr val="0B132B"/>
                </a:solidFill>
              </a:rPr>
              <a:t>Stok maliyeti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481732F-F2AC-42C5-8D36-F5B482873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352800"/>
            <a:ext cx="3048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Fazla stok işletme sermayesini kilitler; eksik stok satış kaybına yol açar.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FB8E896-E36B-4313-AE12-FDE516EBD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524000"/>
            <a:ext cx="3562350" cy="4095750"/>
          </a:xfrm>
          <a:prstGeom xmlns:a="http://schemas.openxmlformats.org/drawingml/2006/main" prst="roundRect">
            <a:avLst>
              <a:gd name="adj" fmla="val 3209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DCE3E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9C10128-57F9-49AD-9747-DBA0DD139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790700"/>
            <a:ext cx="857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D64545"/>
                </a:solidFill>
              </a:defRPr>
            </a:pPr>
            <a:r>
              <a:rPr sz="2550" b="1">
                <a:solidFill>
                  <a:srgbClr val="D64545"/>
                </a:solidFill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B9E61ED-D70F-415E-AD46-AAAD2463C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571750"/>
            <a:ext cx="304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B132B"/>
                </a:solidFill>
              </a:defRPr>
            </a:pPr>
            <a:r>
              <a:rPr sz="1725" b="1">
                <a:solidFill>
                  <a:srgbClr val="0B132B"/>
                </a:solidFill>
              </a:rPr>
              <a:t>Karar boşluğu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F5A0F0B-C0CB-455E-8BE5-DE052E986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352800"/>
            <a:ext cx="3048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Geçmiş KPI’ları gelecekte ne kadar ve ne zaman sipariş verilmesi gerektiğini söylemez.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E338BCC-C4AA-4856-9E01-86DE44617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38900"/>
            <a:ext cx="590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67085"/>
                </a:solidFill>
              </a:defRPr>
            </a:pPr>
            <a:r>
              <a:rPr sz="675" b="0">
                <a:solidFill>
                  <a:srgbClr val="667085"/>
                </a:solidFill>
              </a:rPr>
              <a:t>MonacoLuxe ilhamlı sentetik portföy verisi | TRY | 2023-2026</a:t>
            </a:r>
          </a:p>
        </p:txBody>
      </p:sp>
    </p:spTree>
    <p:extLst>
      <p:ext uri="{BB962C8B-B14F-4D97-AF65-F5344CB8AC3E}">
        <p14:creationId xmlns:p14="http://schemas.microsoft.com/office/powerpoint/2010/main" val="1338621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">
            <a:extLst xmlns:a="http://schemas.openxmlformats.org/drawingml/2006/main">
              <a:ext uri="{FF2B5EF4-FFF2-40B4-BE49-F238E27FC236}">
                <a16:creationId xmlns:a16="http://schemas.microsoft.com/office/drawing/2014/main" id="{0E6C61D8-B169-4164-A96E-8F8F96AFB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76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D8DFF"/>
                </a:solidFill>
              </a:defRPr>
            </a:pPr>
            <a:r>
              <a:rPr sz="900" b="1">
                <a:solidFill>
                  <a:srgbClr val="3D8DFF"/>
                </a:solidFill>
              </a:rPr>
              <a:t>E-COMMERCE DEMAND &amp; INVENTORY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919D0709-D608-473D-9D5E-BDBDA7234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3875"/>
            <a:ext cx="7810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32B"/>
                </a:solidFill>
              </a:defRPr>
            </a:pPr>
            <a:r>
              <a:rPr sz="2550" b="1">
                <a:solidFill>
                  <a:srgbClr val="0B132B"/>
                </a:solidFill>
              </a:rPr>
              <a:t>Proje Hedefleri</a:t>
            </a:r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B69E99FB-E48B-4B21-A449-815A79DF3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590550"/>
            <a:ext cx="3476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67085"/>
                </a:solidFill>
              </a:defRPr>
            </a:pPr>
            <a:r>
              <a:rPr sz="975" b="0">
                <a:solidFill>
                  <a:srgbClr val="667085"/>
                </a:solidFill>
              </a:rPr>
              <a:t>Analitik platformun sunması gereken çıktılar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ABF762-1B48-47D5-86DA-6407817E2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66800"/>
            <a:ext cx="11391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A3E6D0-5045-4F28-9A60-82CE18D96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3890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67085"/>
                </a:solidFill>
              </a:defRPr>
            </a:pPr>
            <a:r>
              <a:rPr sz="825" b="1">
                <a:solidFill>
                  <a:srgbClr val="667085"/>
                </a:solidFill>
              </a:rPr>
              <a:t>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3BEB07A-0DA7-4A2A-BA4E-437F5D444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66850"/>
            <a:ext cx="5581650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B76E611-673B-45EE-9D17-2248C4473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695450"/>
            <a:ext cx="552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D8DFF"/>
                </a:solidFill>
              </a:defRPr>
            </a:pPr>
            <a:r>
              <a:rPr sz="1800" b="1">
                <a:solidFill>
                  <a:srgbClr val="3D8DFF"/>
                </a:solidFill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AC4291B-22F8-44DE-8E1C-0E05B988C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695450"/>
            <a:ext cx="409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32B"/>
                </a:solidFill>
              </a:defRPr>
            </a:pPr>
            <a:r>
              <a:rPr sz="1650" b="1">
                <a:solidFill>
                  <a:srgbClr val="0B132B"/>
                </a:solidFill>
              </a:rPr>
              <a:t>Talebi tahmin et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AD523D1-480D-4310-A8B4-9124C622E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247900"/>
            <a:ext cx="4095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33"/>
                </a:solidFill>
              </a:defRPr>
            </a:pPr>
            <a:r>
              <a:rPr sz="1200" b="0">
                <a:solidFill>
                  <a:srgbClr val="172033"/>
                </a:solidFill>
              </a:rPr>
              <a:t>Her SKU için 52 haftalık baz tahmin ve %80 tahmin aralığı üret.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086BC4B-9B3C-4185-9BDA-C40828580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466850"/>
            <a:ext cx="5581650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1E5EB95-3D3E-41E8-95BC-66DF1B366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695450"/>
            <a:ext cx="552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6DCBF4"/>
                </a:solidFill>
              </a:defRPr>
            </a:pPr>
            <a:r>
              <a:rPr sz="1800" b="1">
                <a:solidFill>
                  <a:srgbClr val="6DCBF4"/>
                </a:solidFill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14B3FDD-571B-4EF7-9130-452F3ED01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1695450"/>
            <a:ext cx="409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32B"/>
                </a:solidFill>
              </a:defRPr>
            </a:pPr>
            <a:r>
              <a:rPr sz="1650" b="1">
                <a:solidFill>
                  <a:srgbClr val="0B132B"/>
                </a:solidFill>
              </a:rPr>
              <a:t>Modeli yönet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BF066A9-233F-4708-A5F8-92A8672E3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247900"/>
            <a:ext cx="4095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33"/>
                </a:solidFill>
              </a:defRPr>
            </a:pPr>
            <a:r>
              <a:rPr sz="1200" b="0">
                <a:solidFill>
                  <a:srgbClr val="172033"/>
                </a:solidFill>
              </a:rPr>
              <a:t>Geri testte WAPE, MAE, RMSE ve sapma ile şampiyon modeli seç.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607A4EC-3230-4650-BC04-32ADDE671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733800"/>
            <a:ext cx="5581650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CD1F1A2-A8CC-41B0-AFF9-5DE540ECA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962400"/>
            <a:ext cx="552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59E0B"/>
                </a:solidFill>
              </a:defRPr>
            </a:pPr>
            <a:r>
              <a:rPr sz="1800" b="1">
                <a:solidFill>
                  <a:srgbClr val="F59E0B"/>
                </a:solidFill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986E6C3-800A-4F0E-A904-9F8E97EA0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962400"/>
            <a:ext cx="409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32B"/>
                </a:solidFill>
              </a:defRPr>
            </a:pPr>
            <a:r>
              <a:rPr sz="1650" b="1">
                <a:solidFill>
                  <a:srgbClr val="0B132B"/>
                </a:solidFill>
              </a:rPr>
              <a:t>Stoku optimize et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2F5937E-0A3A-4C1F-99A8-96DCAF3D5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514850"/>
            <a:ext cx="4095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33"/>
                </a:solidFill>
              </a:defRPr>
            </a:pPr>
            <a:r>
              <a:rPr sz="1200" b="0">
                <a:solidFill>
                  <a:srgbClr val="172033"/>
                </a:solidFill>
              </a:rPr>
              <a:t>Güvenlik stoğu, yeniden sipariş noktası, EOQ, MOQ ve koli katını birleştir.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3157A4A-E50F-45E0-A5F2-E897FCF4A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733800"/>
            <a:ext cx="5581650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15CB00D-F957-48BB-BE22-A886D436A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962400"/>
            <a:ext cx="552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8A558"/>
                </a:solidFill>
              </a:defRPr>
            </a:pPr>
            <a:r>
              <a:rPr sz="1800" b="1">
                <a:solidFill>
                  <a:srgbClr val="18A558"/>
                </a:solidFill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BEFCD24-54A2-451F-9CA4-59207168A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962400"/>
            <a:ext cx="409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32B"/>
                </a:solidFill>
              </a:defRPr>
            </a:pPr>
            <a:r>
              <a:rPr sz="1650" b="1">
                <a:solidFill>
                  <a:srgbClr val="0B132B"/>
                </a:solidFill>
              </a:rPr>
              <a:t>Kararı dağıt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041D6D4-B57E-4BF6-BA43-3F41440C4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514850"/>
            <a:ext cx="4095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33"/>
                </a:solidFill>
              </a:defRPr>
            </a:pPr>
            <a:r>
              <a:rPr sz="1200" b="0">
                <a:solidFill>
                  <a:srgbClr val="172033"/>
                </a:solidFill>
              </a:rPr>
              <a:t>Power BI, Excel, SQL, PDF ve PowerPoint üzerinden yöneticiye ulaştır.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4A12A13-E94C-4CF2-95CC-615A790ED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38900"/>
            <a:ext cx="590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67085"/>
                </a:solidFill>
              </a:defRPr>
            </a:pPr>
            <a:r>
              <a:rPr sz="675" b="0">
                <a:solidFill>
                  <a:srgbClr val="667085"/>
                </a:solidFill>
              </a:rPr>
              <a:t>MonacoLuxe ilhamlı sentetik portföy verisi | TRY | 2023-2026</a:t>
            </a:r>
          </a:p>
        </p:txBody>
      </p:sp>
    </p:spTree>
    <p:extLst>
      <p:ext uri="{BB962C8B-B14F-4D97-AF65-F5344CB8AC3E}">
        <p14:creationId xmlns:p14="http://schemas.microsoft.com/office/powerpoint/2010/main" val="88583542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">
            <a:extLst xmlns:a="http://schemas.openxmlformats.org/drawingml/2006/main">
              <a:ext uri="{FF2B5EF4-FFF2-40B4-BE49-F238E27FC236}">
                <a16:creationId xmlns:a16="http://schemas.microsoft.com/office/drawing/2014/main" id="{B0E62A2D-2568-47DE-A332-D23293DAD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76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D8DFF"/>
                </a:solidFill>
              </a:defRPr>
            </a:pPr>
            <a:r>
              <a:rPr sz="900" b="1">
                <a:solidFill>
                  <a:srgbClr val="3D8DFF"/>
                </a:solidFill>
              </a:rPr>
              <a:t>E-COMMERCE DEMAND &amp; INVENTORY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198EBDEC-A4E8-4E99-B1D1-A3B2316D8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3875"/>
            <a:ext cx="7810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32B"/>
                </a:solidFill>
              </a:defRPr>
            </a:pPr>
            <a:r>
              <a:rPr sz="2550" b="1">
                <a:solidFill>
                  <a:srgbClr val="0B132B"/>
                </a:solidFill>
              </a:rPr>
              <a:t>Veri Kapsamı</a:t>
            </a:r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1A2450CE-1FD0-4CE0-BF0C-24176B13B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590550"/>
            <a:ext cx="3476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67085"/>
                </a:solidFill>
              </a:defRPr>
            </a:pPr>
            <a:r>
              <a:rPr sz="975" b="0">
                <a:solidFill>
                  <a:srgbClr val="667085"/>
                </a:solidFill>
              </a:rPr>
              <a:t>Üç yıllık talep, ticari performans, stok, kampanya ve tedarikçi sinyalleri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58D604D-4B21-420C-9FA9-DE64DC89C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66800"/>
            <a:ext cx="11391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B7DC19-5F2A-4C56-A8BA-A37C04098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3890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67085"/>
                </a:solidFill>
              </a:defRPr>
            </a:pPr>
            <a:r>
              <a:rPr sz="825" b="1">
                <a:solidFill>
                  <a:srgbClr val="667085"/>
                </a:solidFill>
              </a:rPr>
              <a:t>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BED4984-E5C1-4545-B0F6-860AE1695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24000"/>
            <a:ext cx="113919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13D"/>
          </a:solidFill>
          <a:ln xmlns:a="http://schemas.openxmlformats.org/drawingml/2006/main" w="0">
            <a:solidFill>
              <a:srgbClr val="14213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883033E-635A-4F10-9D5A-342331C01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590675"/>
            <a:ext cx="18478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Varlık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29D18E5-E321-4441-A755-D4CD5FF6F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1590675"/>
            <a:ext cx="18478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Veri seviyesi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B15F5BB-D5B9-4672-9D3D-899379515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590675"/>
            <a:ext cx="10858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Satır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CAE7207-D3C1-4A94-AE8A-E438A54A5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1590675"/>
            <a:ext cx="6000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Karar alanı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F83BD2F-487E-48DE-8044-1BAF656C7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47900"/>
            <a:ext cx="113919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3">
            <a:solidFill>
              <a:srgbClr val="DCE3E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A2F0500-704E-4DD2-9175-C1A51DEAB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314575"/>
            <a:ext cx="18478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2033"/>
                </a:solidFill>
              </a:defRPr>
            </a:pPr>
            <a:r>
              <a:rPr sz="1050" b="0">
                <a:solidFill>
                  <a:srgbClr val="172033"/>
                </a:solidFill>
              </a:rPr>
              <a:t>Haftalık satış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5BC64EB-09FB-4217-96A0-D92055B46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314575"/>
            <a:ext cx="18478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2033"/>
                </a:solidFill>
              </a:defRPr>
            </a:pPr>
            <a:r>
              <a:rPr sz="1050" b="0">
                <a:solidFill>
                  <a:srgbClr val="172033"/>
                </a:solidFill>
              </a:rPr>
              <a:t>Hafta-SKU-kanal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7848065-3AEE-44F7-92CE-9C41F2EA5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314575"/>
            <a:ext cx="10858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2033"/>
                </a:solidFill>
              </a:defRPr>
            </a:pPr>
            <a:r>
              <a:rPr sz="1050" b="0">
                <a:solidFill>
                  <a:srgbClr val="172033"/>
                </a:solidFill>
              </a:rPr>
              <a:t>28.208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0F19FC0-6D62-4022-A878-808E49D53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314575"/>
            <a:ext cx="6000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2033"/>
                </a:solidFill>
              </a:defRPr>
            </a:pPr>
            <a:r>
              <a:rPr sz="1050" b="0">
                <a:solidFill>
                  <a:srgbClr val="172033"/>
                </a:solidFill>
              </a:rPr>
              <a:t>Talep, ciro, kâr, indirim, satış kaybı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7EF70CB-9D10-4E3E-9B16-D52D71A5E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971800"/>
            <a:ext cx="113919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B"/>
          </a:solidFill>
          <a:ln xmlns:a="http://schemas.openxmlformats.org/drawingml/2006/main" w="4763">
            <a:solidFill>
              <a:srgbClr val="DCE3E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675C1A3-FE7C-46BC-8010-AE08AF368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038475"/>
            <a:ext cx="18478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2033"/>
                </a:solidFill>
              </a:defRPr>
            </a:pPr>
            <a:r>
              <a:rPr sz="1050" b="0">
                <a:solidFill>
                  <a:srgbClr val="172033"/>
                </a:solidFill>
              </a:rPr>
              <a:t>Stok görünümü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B5D426D-3940-4D3E-9815-C47E20FE3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038475"/>
            <a:ext cx="18478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2033"/>
                </a:solidFill>
              </a:defRPr>
            </a:pPr>
            <a:r>
              <a:rPr sz="1050" b="0">
                <a:solidFill>
                  <a:srgbClr val="172033"/>
                </a:solidFill>
              </a:rPr>
              <a:t>Hafta-SKU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457BC48-759A-40ED-AC9E-FF1DB0261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038475"/>
            <a:ext cx="10858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2033"/>
                </a:solidFill>
              </a:defRPr>
            </a:pPr>
            <a:r>
              <a:rPr sz="1050" b="0">
                <a:solidFill>
                  <a:srgbClr val="172033"/>
                </a:solidFill>
              </a:rPr>
              <a:t>9.420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1401A0A-2AE1-4251-8F4E-0576F94A6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038475"/>
            <a:ext cx="6000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2033"/>
                </a:solidFill>
              </a:defRPr>
            </a:pPr>
            <a:r>
              <a:rPr sz="1050" b="0">
                <a:solidFill>
                  <a:srgbClr val="172033"/>
                </a:solidFill>
              </a:rPr>
              <a:t>Eldeki stok, yoldaki stok, WOS, stok tükenmesi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82BCEAC-2C1E-4EAF-BD95-1DDB1CD6C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95700"/>
            <a:ext cx="113919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3">
            <a:solidFill>
              <a:srgbClr val="DCE3ED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10EBAD3-32BB-4E54-B47F-EE5CEAFA8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762375"/>
            <a:ext cx="18478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2033"/>
                </a:solidFill>
              </a:defRPr>
            </a:pPr>
            <a:r>
              <a:rPr sz="1050" b="0">
                <a:solidFill>
                  <a:srgbClr val="172033"/>
                </a:solidFill>
              </a:rPr>
              <a:t>Satın alma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A955750-47B8-4360-9D48-1D997EF67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762375"/>
            <a:ext cx="18478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2033"/>
                </a:solidFill>
              </a:defRPr>
            </a:pPr>
            <a:r>
              <a:rPr sz="1050" b="0">
                <a:solidFill>
                  <a:srgbClr val="172033"/>
                </a:solidFill>
              </a:rPr>
              <a:t>Sipariş-SKU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68E1540-2622-449F-A12A-777A603FB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762375"/>
            <a:ext cx="10858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2033"/>
                </a:solidFill>
              </a:defRPr>
            </a:pPr>
            <a:r>
              <a:rPr sz="1050" b="0">
                <a:solidFill>
                  <a:srgbClr val="172033"/>
                </a:solidFill>
              </a:rPr>
              <a:t>1.208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3C77A6A-48E9-42FD-94B8-A7EC26485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762375"/>
            <a:ext cx="6000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2033"/>
                </a:solidFill>
              </a:defRPr>
            </a:pPr>
            <a:r>
              <a:rPr sz="1050" b="0">
                <a:solidFill>
                  <a:srgbClr val="172033"/>
                </a:solidFill>
              </a:rPr>
              <a:t>Miktar, maliyet, termin, zamanında teslimat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656836C-5C6F-4F30-BAB6-69A1E184A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419600"/>
            <a:ext cx="113919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B"/>
          </a:solidFill>
          <a:ln xmlns:a="http://schemas.openxmlformats.org/drawingml/2006/main" w="4763">
            <a:solidFill>
              <a:srgbClr val="DCE3ED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01BC83C-2FE8-4871-8263-3546EB4FC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486275"/>
            <a:ext cx="18478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2033"/>
                </a:solidFill>
              </a:defRPr>
            </a:pPr>
            <a:r>
              <a:rPr sz="1050" b="0">
                <a:solidFill>
                  <a:srgbClr val="172033"/>
                </a:solidFill>
              </a:rPr>
              <a:t>Tahmin sonucu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4B93DA9-9797-4465-B070-DBD1EF258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486275"/>
            <a:ext cx="18478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2033"/>
                </a:solidFill>
              </a:defRPr>
            </a:pPr>
            <a:r>
              <a:rPr sz="1050" b="0">
                <a:solidFill>
                  <a:srgbClr val="172033"/>
                </a:solidFill>
              </a:rPr>
              <a:t>Tahmin haftası-SKU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5B6A77B-C458-4F8F-B2EE-4808F7898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486275"/>
            <a:ext cx="10858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2033"/>
                </a:solidFill>
              </a:defRPr>
            </a:pPr>
            <a:r>
              <a:rPr sz="1050" b="0">
                <a:solidFill>
                  <a:srgbClr val="172033"/>
                </a:solidFill>
              </a:rPr>
              <a:t>3.120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5BA4FBB-E4CA-464F-8539-D42AF4CDE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486275"/>
            <a:ext cx="6000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2033"/>
                </a:solidFill>
              </a:defRPr>
            </a:pPr>
            <a:r>
              <a:rPr sz="1050" b="0">
                <a:solidFill>
                  <a:srgbClr val="172033"/>
                </a:solidFill>
              </a:rPr>
              <a:t>Tahmin, aralık, model, tahmini ciro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A9195C0-032B-4101-94EF-47A7BD126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43500"/>
            <a:ext cx="113919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3">
            <a:solidFill>
              <a:srgbClr val="DCE3ED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E62DCA9-176B-462D-8441-B78A3131E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210175"/>
            <a:ext cx="18478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2033"/>
                </a:solidFill>
              </a:defRPr>
            </a:pPr>
            <a:r>
              <a:rPr sz="1050" b="0">
                <a:solidFill>
                  <a:srgbClr val="172033"/>
                </a:solidFill>
              </a:rPr>
              <a:t>Stok senaryosu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CCA0A8C-347C-4C51-8500-7E16F86F3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210175"/>
            <a:ext cx="18478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2033"/>
                </a:solidFill>
              </a:defRPr>
            </a:pPr>
            <a:r>
              <a:rPr sz="1050" b="0">
                <a:solidFill>
                  <a:srgbClr val="172033"/>
                </a:solidFill>
              </a:rPr>
              <a:t>Senaryo-SKU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F2D187E-326D-4657-8797-D399CCBD5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5210175"/>
            <a:ext cx="10858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2033"/>
                </a:solidFill>
              </a:defRPr>
            </a:pPr>
            <a:r>
              <a:rPr sz="1050" b="0">
                <a:solidFill>
                  <a:srgbClr val="172033"/>
                </a:solidFill>
              </a:rPr>
              <a:t>240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5C21310-381C-4347-8142-A5231314E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5210175"/>
            <a:ext cx="6000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2033"/>
                </a:solidFill>
              </a:defRPr>
            </a:pPr>
            <a:r>
              <a:rPr sz="1050" b="0">
                <a:solidFill>
                  <a:srgbClr val="172033"/>
                </a:solidFill>
              </a:rPr>
              <a:t>Güvenlik stoğu, ROP, EOQ, yatırım, aksiyon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3A78EE2-84C0-4B02-A439-DFA60BA92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38900"/>
            <a:ext cx="590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67085"/>
                </a:solidFill>
              </a:defRPr>
            </a:pPr>
            <a:r>
              <a:rPr sz="675" b="0">
                <a:solidFill>
                  <a:srgbClr val="667085"/>
                </a:solidFill>
              </a:rPr>
              <a:t>MonacoLuxe ilhamlı sentetik portföy verisi | TRY | 2023-2026</a:t>
            </a:r>
          </a:p>
        </p:txBody>
      </p:sp>
    </p:spTree>
    <p:extLst>
      <p:ext uri="{BB962C8B-B14F-4D97-AF65-F5344CB8AC3E}">
        <p14:creationId xmlns:p14="http://schemas.microsoft.com/office/powerpoint/2010/main" val="29343034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">
            <a:extLst xmlns:a="http://schemas.openxmlformats.org/drawingml/2006/main">
              <a:ext uri="{FF2B5EF4-FFF2-40B4-BE49-F238E27FC236}">
                <a16:creationId xmlns:a16="http://schemas.microsoft.com/office/drawing/2014/main" id="{4C171792-BED0-4BA8-BEB1-6049C308C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76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D8DFF"/>
                </a:solidFill>
              </a:defRPr>
            </a:pPr>
            <a:r>
              <a:rPr sz="900" b="1">
                <a:solidFill>
                  <a:srgbClr val="3D8DFF"/>
                </a:solidFill>
              </a:rPr>
              <a:t>E-COMMERCE DEMAND &amp; INVENTORY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1AFA0FF5-EBF4-4145-BE55-2E8100CA2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3875"/>
            <a:ext cx="7810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32B"/>
                </a:solidFill>
              </a:defRPr>
            </a:pPr>
            <a:r>
              <a:rPr sz="2550" b="1">
                <a:solidFill>
                  <a:srgbClr val="0B132B"/>
                </a:solidFill>
              </a:rPr>
              <a:t>Uçtan Uca Analitik Mimari</a:t>
            </a:r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98BCB748-2D62-494F-98A8-B28FABC45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590550"/>
            <a:ext cx="3476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67085"/>
                </a:solidFill>
              </a:defRPr>
            </a:pPr>
            <a:r>
              <a:rPr sz="975" b="0">
                <a:solidFill>
                  <a:srgbClr val="667085"/>
                </a:solidFill>
              </a:rPr>
              <a:t>Kaynak veriden yönetim kararına tekrarlanabilir akış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92B32F-E078-44EB-8B24-24D439F6E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66800"/>
            <a:ext cx="11391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D352432-F25E-4FF4-9B0D-08B53E393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3890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67085"/>
                </a:solidFill>
              </a:defRPr>
            </a:pPr>
            <a:r>
              <a:rPr sz="825" b="1">
                <a:solidFill>
                  <a:srgbClr val="667085"/>
                </a:solidFill>
              </a:rPr>
              <a:t>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378806-2951-4561-9CDD-457B9F413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33600"/>
            <a:ext cx="2000250" cy="22860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6033460-F820-4D92-AFE7-DF020C194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343150"/>
            <a:ext cx="495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</a:defRPr>
            </a:pPr>
            <a:r>
              <a:rPr sz="1350" b="1">
                <a:solidFill>
                  <a:srgbClr val="3D8DFF"/>
                </a:solidFill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92F8222-BC1A-4203-A13A-75B27AECD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76550"/>
            <a:ext cx="1657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132B"/>
                </a:solidFill>
              </a:defRPr>
            </a:pPr>
            <a:r>
              <a:rPr sz="1500" b="1">
                <a:solidFill>
                  <a:srgbClr val="0B132B"/>
                </a:solidFill>
              </a:rPr>
              <a:t>Sentetik Veri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02E969D-8465-4E2F-9B24-0A9C8BA32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00450"/>
            <a:ext cx="1657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7085"/>
                </a:solidFill>
              </a:defRPr>
            </a:pPr>
            <a:r>
              <a:rPr sz="1050" b="0">
                <a:solidFill>
                  <a:srgbClr val="667085"/>
                </a:solidFill>
              </a:rPr>
              <a:t>Python</a:t>
            </a:r>
          </a:p>
          <a:p xmlns:a="http://schemas.openxmlformats.org/drawingml/2006/main">
            <a:pPr algn="l">
              <a:defRPr sz="1050" b="0">
                <a:solidFill>
                  <a:srgbClr val="667085"/>
                </a:solidFill>
              </a:defRPr>
            </a:pPr>
            <a:r>
              <a:rPr sz="1050" b="0">
                <a:solidFill>
                  <a:srgbClr val="667085"/>
                </a:solidFill>
              </a:rPr>
              <a:t>3 yıllık üretim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6B1818C-714B-4753-926D-1665C2800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3048000"/>
            <a:ext cx="247650" cy="3048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solidFill>
              <a:srgbClr val="6DCBF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FF90E0A-BAE5-477A-9BC0-88632562C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133600"/>
            <a:ext cx="2000250" cy="22860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411DE7B-31EA-4873-A545-81854B49D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343150"/>
            <a:ext cx="495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</a:defRPr>
            </a:pPr>
            <a:r>
              <a:rPr sz="1350" b="1">
                <a:solidFill>
                  <a:srgbClr val="3D8DFF"/>
                </a:solidFill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E53B457-2BB4-4F26-BF35-DCDA57ACF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876550"/>
            <a:ext cx="1657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132B"/>
                </a:solidFill>
              </a:defRPr>
            </a:pPr>
            <a:r>
              <a:rPr sz="1500" b="1">
                <a:solidFill>
                  <a:srgbClr val="0B132B"/>
                </a:solidFill>
              </a:rPr>
              <a:t>SQL Katmanı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8008856-BC41-40B0-B3AC-B6C263445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600450"/>
            <a:ext cx="1657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7085"/>
                </a:solidFill>
              </a:defRPr>
            </a:pPr>
            <a:r>
              <a:rPr sz="1050" b="0">
                <a:solidFill>
                  <a:srgbClr val="667085"/>
                </a:solidFill>
              </a:rPr>
              <a:t>SQLite</a:t>
            </a:r>
          </a:p>
          <a:p xmlns:a="http://schemas.openxmlformats.org/drawingml/2006/main">
            <a:pPr algn="l">
              <a:defRPr sz="1050" b="0">
                <a:solidFill>
                  <a:srgbClr val="667085"/>
                </a:solidFill>
              </a:defRPr>
            </a:pPr>
            <a:r>
              <a:rPr sz="1050" b="0">
                <a:solidFill>
                  <a:srgbClr val="667085"/>
                </a:solidFill>
              </a:rPr>
              <a:t>13 tablo + görünümler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1109A69-934A-4AC9-8C0A-DBAAC50D0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048000"/>
            <a:ext cx="247650" cy="3048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solidFill>
              <a:srgbClr val="6DCBF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7570187-CD96-4D53-A6F1-950AF7C8E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133600"/>
            <a:ext cx="2000250" cy="22860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5F050B3-0F32-4A19-9107-DEC2BEB3E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343150"/>
            <a:ext cx="495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</a:defRPr>
            </a:pPr>
            <a:r>
              <a:rPr sz="1350" b="1">
                <a:solidFill>
                  <a:srgbClr val="3D8DFF"/>
                </a:solidFill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EC29CB3-CC5E-48F5-8DD4-B77583652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876550"/>
            <a:ext cx="1657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132B"/>
                </a:solidFill>
              </a:defRPr>
            </a:pPr>
            <a:r>
              <a:rPr sz="1500" b="1">
                <a:solidFill>
                  <a:srgbClr val="0B132B"/>
                </a:solidFill>
              </a:rPr>
              <a:t>Tahmin Motoru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DE7B05C-C044-4EDC-A2E6-0319F0500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600450"/>
            <a:ext cx="1657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7085"/>
                </a:solidFill>
              </a:defRPr>
            </a:pPr>
            <a:r>
              <a:rPr sz="1050" b="0">
                <a:solidFill>
                  <a:srgbClr val="667085"/>
                </a:solidFill>
              </a:rPr>
              <a:t>3 model</a:t>
            </a:r>
          </a:p>
          <a:p xmlns:a="http://schemas.openxmlformats.org/drawingml/2006/main">
            <a:pPr algn="l">
              <a:defRPr sz="1050" b="0">
                <a:solidFill>
                  <a:srgbClr val="667085"/>
                </a:solidFill>
              </a:defRPr>
            </a:pPr>
            <a:r>
              <a:rPr sz="1050" b="0">
                <a:solidFill>
                  <a:srgbClr val="667085"/>
                </a:solidFill>
              </a:rPr>
              <a:t>SKU şampiyonu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FC69022-40DA-4F05-A546-ADF4337EC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048000"/>
            <a:ext cx="247650" cy="3048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solidFill>
              <a:srgbClr val="6DCBF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4CDF394-88DF-4501-89B9-1CDBBABE1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133600"/>
            <a:ext cx="2000250" cy="22860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8DAD252-BBAC-4AE9-9C56-3B2B3D0AF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343150"/>
            <a:ext cx="495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</a:defRPr>
            </a:pPr>
            <a:r>
              <a:rPr sz="1350" b="1">
                <a:solidFill>
                  <a:srgbClr val="3D8DFF"/>
                </a:solidFill>
              </a:rPr>
              <a:t>04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056C459-C0B7-4AD4-B0D8-53E280B98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876550"/>
            <a:ext cx="1657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132B"/>
                </a:solidFill>
              </a:defRPr>
            </a:pPr>
            <a:r>
              <a:rPr sz="1500" b="1">
                <a:solidFill>
                  <a:srgbClr val="0B132B"/>
                </a:solidFill>
              </a:rPr>
              <a:t>Stok Motoru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058E480-028E-40F7-8B1E-713AE3921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3600450"/>
            <a:ext cx="1657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7085"/>
                </a:solidFill>
              </a:defRPr>
            </a:pPr>
            <a:r>
              <a:rPr sz="1050" b="0">
                <a:solidFill>
                  <a:srgbClr val="667085"/>
                </a:solidFill>
              </a:rPr>
              <a:t>ROP + EOQ</a:t>
            </a:r>
          </a:p>
          <a:p xmlns:a="http://schemas.openxmlformats.org/drawingml/2006/main">
            <a:pPr algn="l">
              <a:defRPr sz="1050" b="0">
                <a:solidFill>
                  <a:srgbClr val="667085"/>
                </a:solidFill>
              </a:defRPr>
            </a:pPr>
            <a:r>
              <a:rPr sz="1050" b="0">
                <a:solidFill>
                  <a:srgbClr val="667085"/>
                </a:solidFill>
              </a:rPr>
              <a:t>4 senaryo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049F8DD-3666-4B9D-A8D6-999180F4B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3048000"/>
            <a:ext cx="247650" cy="3048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solidFill>
              <a:srgbClr val="6DCBF4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7089FB7-FDA0-4AEB-B2E6-5D08CB1DD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2133600"/>
            <a:ext cx="2000250" cy="22860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E8F7EE"/>
          </a:solidFill>
          <a:ln xmlns:a="http://schemas.openxmlformats.org/drawingml/2006/main" w="9525">
            <a:solidFill>
              <a:srgbClr val="18A558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2A01F77-743D-4A26-83D3-B3696068B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2343150"/>
            <a:ext cx="495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8A558"/>
                </a:solidFill>
              </a:defRPr>
            </a:pPr>
            <a:r>
              <a:rPr sz="1350" b="1">
                <a:solidFill>
                  <a:srgbClr val="18A558"/>
                </a:solidFill>
              </a:rPr>
              <a:t>05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589C7FA-6095-411C-87D1-19868B34B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2876550"/>
            <a:ext cx="1657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132B"/>
                </a:solidFill>
              </a:defRPr>
            </a:pPr>
            <a:r>
              <a:rPr sz="1500" b="1">
                <a:solidFill>
                  <a:srgbClr val="0B132B"/>
                </a:solidFill>
              </a:rPr>
              <a:t>BI Teslimatı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518E83E-6E86-4A6F-9322-E1D132F67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3600450"/>
            <a:ext cx="1657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7085"/>
                </a:solidFill>
              </a:defRPr>
            </a:pPr>
            <a:r>
              <a:rPr sz="1050" b="0">
                <a:solidFill>
                  <a:srgbClr val="667085"/>
                </a:solidFill>
              </a:rPr>
              <a:t>Power BI + Excel</a:t>
            </a:r>
          </a:p>
          <a:p xmlns:a="http://schemas.openxmlformats.org/drawingml/2006/main">
            <a:pPr algn="l">
              <a:defRPr sz="1050" b="0">
                <a:solidFill>
                  <a:srgbClr val="667085"/>
                </a:solidFill>
              </a:defRPr>
            </a:pPr>
            <a:r>
              <a:rPr sz="1050" b="0">
                <a:solidFill>
                  <a:srgbClr val="667085"/>
                </a:solidFill>
              </a:rPr>
              <a:t>PDF + PPT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D3FD210-0316-4B82-A1C8-E2176DEB2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857750"/>
            <a:ext cx="1139190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1ECFF"/>
          </a:solidFill>
          <a:ln xmlns:a="http://schemas.openxmlformats.org/drawingml/2006/main" w="9525">
            <a:solidFill>
              <a:srgbClr val="7C3AED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211DF60-DB5E-455C-898B-395A5F8F3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857750"/>
            <a:ext cx="571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solidFill>
              <a:srgbClr val="7C3AED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B4C511C-948C-47E2-99B4-CE91ADC41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029200"/>
            <a:ext cx="11029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7C3AED"/>
                </a:solidFill>
              </a:defRPr>
            </a:pPr>
            <a:r>
              <a:rPr sz="1200" b="1">
                <a:solidFill>
                  <a:srgbClr val="7C3AED"/>
                </a:solidFill>
              </a:rPr>
              <a:t>Tekrarlanabilirlik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D88FED3-9864-46AE-B909-884FFE603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353050"/>
            <a:ext cx="110299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2033"/>
                </a:solidFill>
              </a:defRPr>
            </a:pPr>
            <a:r>
              <a:rPr sz="1050" b="0">
                <a:solidFill>
                  <a:srgbClr val="172033"/>
                </a:solidFill>
              </a:rPr>
              <a:t>Tek komutla veri üretimi, model eğitimi, stok optimizasyonu, SQL veri tabanı ve doğrulama kontrolleri yeniden oluşturulur.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48B43B3-CB70-4C1F-AEA7-D423519C6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38900"/>
            <a:ext cx="590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67085"/>
                </a:solidFill>
              </a:defRPr>
            </a:pPr>
            <a:r>
              <a:rPr sz="675" b="0">
                <a:solidFill>
                  <a:srgbClr val="667085"/>
                </a:solidFill>
              </a:rPr>
              <a:t>MonacoLuxe ilhamlı sentetik portföy verisi | TRY | 2023-2026</a:t>
            </a:r>
          </a:p>
        </p:txBody>
      </p:sp>
    </p:spTree>
    <p:extLst>
      <p:ext uri="{BB962C8B-B14F-4D97-AF65-F5344CB8AC3E}">
        <p14:creationId xmlns:p14="http://schemas.microsoft.com/office/powerpoint/2010/main" val="101878942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">
            <a:extLst xmlns:a="http://schemas.openxmlformats.org/drawingml/2006/main">
              <a:ext uri="{FF2B5EF4-FFF2-40B4-BE49-F238E27FC236}">
                <a16:creationId xmlns:a16="http://schemas.microsoft.com/office/drawing/2014/main" id="{683483B8-706F-4F86-B33C-B737892DA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76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D8DFF"/>
                </a:solidFill>
              </a:defRPr>
            </a:pPr>
            <a:r>
              <a:rPr sz="900" b="1">
                <a:solidFill>
                  <a:srgbClr val="3D8DFF"/>
                </a:solidFill>
              </a:rPr>
              <a:t>E-COMMERCE DEMAND &amp; INVENTORY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8C0ABC0B-626E-4E1D-93FC-154773EEF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3875"/>
            <a:ext cx="7810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32B"/>
                </a:solidFill>
              </a:defRPr>
            </a:pPr>
            <a:r>
              <a:rPr sz="2550" b="1">
                <a:solidFill>
                  <a:srgbClr val="0B132B"/>
                </a:solidFill>
              </a:rPr>
              <a:t>İlişkisel Veri Modeli</a:t>
            </a:r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CCAB1946-75D4-4F42-8D99-AF3E4D60F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590550"/>
            <a:ext cx="3476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67085"/>
                </a:solidFill>
              </a:defRPr>
            </a:pPr>
            <a:r>
              <a:rPr sz="975" b="0">
                <a:solidFill>
                  <a:srgbClr val="667085"/>
                </a:solidFill>
              </a:rPr>
              <a:t>Zaman zekâsını destekleyen takvim merkezli semantik katman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843F9D-06EE-4587-9F35-1C56258C2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66800"/>
            <a:ext cx="11391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C22B9B-DB6B-4352-81D1-C99264627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3890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67085"/>
                </a:solidFill>
              </a:defRPr>
            </a:pPr>
            <a:r>
              <a:rPr sz="825" b="1">
                <a:solidFill>
                  <a:srgbClr val="667085"/>
                </a:solidFill>
              </a:rPr>
              <a:t>07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26536CC-5F84-4768-9626-01820FD02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647950"/>
            <a:ext cx="285750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0B132B"/>
          </a:solidFill>
          <a:ln xmlns:a="http://schemas.openxmlformats.org/drawingml/2006/main" w="9525">
            <a:solidFill>
              <a:srgbClr val="0B132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8FEA9A8-474A-41BD-8244-83CCF8464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895600"/>
            <a:ext cx="228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dim_calendar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30886A2-FDCE-4B51-80CB-8EE3E1B1F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3337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DCBF4"/>
                </a:solidFill>
              </a:defRPr>
            </a:pPr>
            <a:r>
              <a:rPr sz="975" b="0">
                <a:solidFill>
                  <a:srgbClr val="6DCBF4"/>
                </a:solidFill>
              </a:rPr>
              <a:t>Hafta • Ay • Çeyrek • Yıl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5DC4FB4-FF5A-4B15-A049-C8E3420B0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285750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8C1646A-0756-45CD-9351-75EAD87CB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8097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32B"/>
                </a:solidFill>
              </a:defRPr>
            </a:pPr>
            <a:r>
              <a:rPr sz="1350" b="1">
                <a:solidFill>
                  <a:srgbClr val="0B132B"/>
                </a:solidFill>
              </a:rPr>
              <a:t>fact_weekly_sales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9C7E897-BC74-4BF9-9BEF-31C5E0E7F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860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67085"/>
                </a:solidFill>
              </a:defRPr>
            </a:pPr>
            <a:r>
              <a:rPr sz="975" b="0">
                <a:solidFill>
                  <a:srgbClr val="667085"/>
                </a:solidFill>
              </a:rPr>
              <a:t>Talep • Ciro • Kâr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D6F60ED-736A-4C85-AF46-5AEEBFA94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162175"/>
            <a:ext cx="1123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solidFill>
              <a:srgbClr val="6DCBF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C52201C-3941-4A43-BD27-F3B5479ED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71950"/>
            <a:ext cx="285750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9A921E7-EFB0-450E-A6A5-AC09440F9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1960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32B"/>
                </a:solidFill>
              </a:defRPr>
            </a:pPr>
            <a:r>
              <a:rPr sz="1350" b="1">
                <a:solidFill>
                  <a:srgbClr val="0B132B"/>
                </a:solidFill>
              </a:rPr>
              <a:t>fact_inventory_snapshot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22CEAFB-2C12-43DA-95F5-5F92977B2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8958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67085"/>
                </a:solidFill>
              </a:defRPr>
            </a:pPr>
            <a:r>
              <a:rPr sz="975" b="0">
                <a:solidFill>
                  <a:srgbClr val="667085"/>
                </a:solidFill>
              </a:rPr>
              <a:t>Stok • WOS • Tükenme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0041646-EE29-44A2-9FFF-1828A4644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4772025"/>
            <a:ext cx="1123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solidFill>
              <a:srgbClr val="6DCBF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54583CA-85BB-4576-A199-09FE7782A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1562100"/>
            <a:ext cx="285750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E8F7EE"/>
          </a:solidFill>
          <a:ln xmlns:a="http://schemas.openxmlformats.org/drawingml/2006/main" w="9525">
            <a:solidFill>
              <a:srgbClr val="18A55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E29ACDD-CE1F-4949-ACAA-299FB5BC7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18097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32B"/>
                </a:solidFill>
              </a:defRPr>
            </a:pPr>
            <a:r>
              <a:rPr sz="1350" b="1">
                <a:solidFill>
                  <a:srgbClr val="0B132B"/>
                </a:solidFill>
              </a:rPr>
              <a:t>forecast_results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C3B510B-79FC-4537-B512-C56F3D3C2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2860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67085"/>
                </a:solidFill>
              </a:defRPr>
            </a:pPr>
            <a:r>
              <a:rPr sz="975" b="0">
                <a:solidFill>
                  <a:srgbClr val="667085"/>
                </a:solidFill>
              </a:rPr>
              <a:t>Tahmin • Aralık • Model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B1DD568-83C9-49BE-8F9E-C4118D54C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162175"/>
            <a:ext cx="1123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solidFill>
              <a:srgbClr val="6DCBF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6862F82-7AD9-46C3-8F83-A5B007629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4171950"/>
            <a:ext cx="285750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E8F7EE"/>
          </a:solidFill>
          <a:ln xmlns:a="http://schemas.openxmlformats.org/drawingml/2006/main" w="9525">
            <a:solidFill>
              <a:srgbClr val="18A55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1EBE925-2238-4661-9ED7-B9D49AF69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441960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32B"/>
                </a:solidFill>
              </a:defRPr>
            </a:pPr>
            <a:r>
              <a:rPr sz="1350" b="1">
                <a:solidFill>
                  <a:srgbClr val="0B132B"/>
                </a:solidFill>
              </a:rPr>
              <a:t>replenishment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2756E16-7FDA-4B85-983D-E51B0044E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48958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67085"/>
                </a:solidFill>
              </a:defRPr>
            </a:pPr>
            <a:r>
              <a:rPr sz="975" b="0">
                <a:solidFill>
                  <a:srgbClr val="667085"/>
                </a:solidFill>
              </a:rPr>
              <a:t>ROP • EOQ • Aksiyon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166CBF5-78B1-43A7-9CED-187800BBC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772025"/>
            <a:ext cx="1123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solidFill>
              <a:srgbClr val="6DCBF4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9464E57-0A5F-4107-9D9F-2827A967A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810250"/>
            <a:ext cx="7429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7C3AED"/>
                </a:solidFill>
              </a:defRPr>
            </a:pPr>
            <a:r>
              <a:rPr sz="1200" b="1">
                <a:solidFill>
                  <a:srgbClr val="7C3AED"/>
                </a:solidFill>
              </a:rPr>
              <a:t>Tek yönlü filtreleme • Tarih zekâsı • Güvenilir KPI bağlamı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4AD690A-2307-4919-AE44-3B9E24C5B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38900"/>
            <a:ext cx="590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67085"/>
                </a:solidFill>
              </a:defRPr>
            </a:pPr>
            <a:r>
              <a:rPr sz="675" b="0">
                <a:solidFill>
                  <a:srgbClr val="667085"/>
                </a:solidFill>
              </a:rPr>
              <a:t>MonacoLuxe ilhamlı sentetik portföy verisi | TRY | 2023-2026</a:t>
            </a:r>
          </a:p>
        </p:txBody>
      </p:sp>
    </p:spTree>
    <p:extLst>
      <p:ext uri="{BB962C8B-B14F-4D97-AF65-F5344CB8AC3E}">
        <p14:creationId xmlns:p14="http://schemas.microsoft.com/office/powerpoint/2010/main" val="106009014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">
            <a:extLst xmlns:a="http://schemas.openxmlformats.org/drawingml/2006/main">
              <a:ext uri="{FF2B5EF4-FFF2-40B4-BE49-F238E27FC236}">
                <a16:creationId xmlns:a16="http://schemas.microsoft.com/office/drawing/2014/main" id="{4DAEA494-7E76-4113-AC99-C6219E50B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76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D8DFF"/>
                </a:solidFill>
              </a:defRPr>
            </a:pPr>
            <a:r>
              <a:rPr sz="900" b="1">
                <a:solidFill>
                  <a:srgbClr val="3D8DFF"/>
                </a:solidFill>
              </a:rPr>
              <a:t>E-COMMERCE DEMAND &amp; INVENTORY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21189698-A016-4471-910B-3974F2D1B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3875"/>
            <a:ext cx="7810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32B"/>
                </a:solidFill>
              </a:defRPr>
            </a:pPr>
            <a:r>
              <a:rPr sz="2550" b="1">
                <a:solidFill>
                  <a:srgbClr val="0B132B"/>
                </a:solidFill>
              </a:rPr>
              <a:t>Tarihsel Performans</a:t>
            </a:r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565DEFDD-82FF-4846-B91D-9C16A65DE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590550"/>
            <a:ext cx="3476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67085"/>
                </a:solidFill>
              </a:defRPr>
            </a:pPr>
            <a:r>
              <a:rPr sz="975" b="0">
                <a:solidFill>
                  <a:srgbClr val="667085"/>
                </a:solidFill>
              </a:rPr>
              <a:t>Ciro ölçeği, kategori karması ve talep karşılama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32F50A-4651-42D2-AACA-85E8AAD91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66800"/>
            <a:ext cx="11391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18F540-92C2-4060-AB32-487CD057F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3890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67085"/>
                </a:solidFill>
              </a:defRPr>
            </a:pPr>
            <a:r>
              <a:rPr sz="825" b="1">
                <a:solidFill>
                  <a:srgbClr val="667085"/>
                </a:solidFill>
              </a:rPr>
              <a:t>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D04816B-36C3-4C41-9E2C-17C773047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28750"/>
            <a:ext cx="6838950" cy="4476750"/>
          </a:xfrm>
          <a:prstGeom xmlns:a="http://schemas.openxmlformats.org/drawingml/2006/main" prst="roundRect">
            <a:avLst>
              <a:gd name="adj" fmla="val 25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A42174B-DC21-4E1E-AD5E-0F945B68C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0200"/>
            <a:ext cx="6419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B132B"/>
                </a:solidFill>
              </a:defRPr>
            </a:pPr>
            <a:r>
              <a:rPr sz="1125" b="1">
                <a:solidFill>
                  <a:srgbClr val="0B132B"/>
                </a:solidFill>
              </a:rPr>
              <a:t>Aylık Net Ciro | 2023-2025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C44DFE0-B58C-4D34-8AEC-583DC298D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05000"/>
            <a:ext cx="6419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3ED"/>
          </a:solidFill>
          <a:ln xmlns:a="http://schemas.openxmlformats.org/drawingml/2006/main" w="0">
            <a:solidFill>
              <a:srgbClr val="DCE3ED"/>
            </a:solidFill>
            <a:prstDash val="solid"/>
          </a:ln>
        </p:spPr>
      </p:sp>
      <p:graphicFrame>
        <p:nvGraphicFramePr>
          <p:cNvPr id="32" name="Chart"/>
          <p:cNvGraphicFramePr/>
          <p:nvPr/>
        </p:nvGraphicFramePr>
        <p:xfrm>
          <a:off xmlns:a="http://schemas.openxmlformats.org/drawingml/2006/main" x="609600" y="2076450"/>
          <a:ext xmlns:a="http://schemas.openxmlformats.org/drawingml/2006/main" cx="6419850" cy="3429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8eeadae465d341c4"/>
          </a:graphicData>
        </a:graphic>
      </p:graphicFrame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50F2CF2-26DD-42CD-9560-AE89C7EFF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428750"/>
            <a:ext cx="4267200" cy="1381125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96A55E9-4409-4DF5-B226-A9590F604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428750"/>
            <a:ext cx="4267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B553CDF-A1E8-4148-A423-DAFA05215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657350"/>
            <a:ext cx="3886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67085"/>
                </a:solidFill>
              </a:defRPr>
            </a:pPr>
            <a:r>
              <a:rPr sz="900" b="1">
                <a:solidFill>
                  <a:srgbClr val="667085"/>
                </a:solidFill>
              </a:rPr>
              <a:t>TARIHSEL CIRO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9FC6073-F3A8-4715-BA49-999B0548D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962150"/>
            <a:ext cx="3886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3D8DFF"/>
                </a:solidFill>
              </a:defRPr>
            </a:pPr>
            <a:r>
              <a:rPr sz="2100" b="1">
                <a:solidFill>
                  <a:srgbClr val="3D8DFF"/>
                </a:solidFill>
              </a:rPr>
              <a:t>₺891.7M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8BBAED5-78D8-4918-94AC-64A5A26D7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476500"/>
            <a:ext cx="3886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2023-2025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01280D4-27C4-43E0-83CF-0BD62E4E9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048000"/>
            <a:ext cx="426720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E8F7EE"/>
          </a:solidFill>
          <a:ln xmlns:a="http://schemas.openxmlformats.org/drawingml/2006/main" w="9525">
            <a:solidFill>
              <a:srgbClr val="18A55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FFFB693-912F-41DF-9907-680FCEFDF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048000"/>
            <a:ext cx="571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A558"/>
          </a:solidFill>
          <a:ln xmlns:a="http://schemas.openxmlformats.org/drawingml/2006/main" w="0">
            <a:solidFill>
              <a:srgbClr val="18A55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5BCCDEF-BD4E-4681-91C1-1692B2525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219450"/>
            <a:ext cx="3905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8A558"/>
                </a:solidFill>
              </a:defRPr>
            </a:pPr>
            <a:r>
              <a:rPr sz="1200" b="1">
                <a:solidFill>
                  <a:srgbClr val="18A558"/>
                </a:solidFill>
              </a:rPr>
              <a:t>Brüt Marj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3E3FE5D-586D-4285-826A-FF4950D94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543300"/>
            <a:ext cx="3905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2033"/>
                </a:solidFill>
              </a:defRPr>
            </a:pPr>
            <a:r>
              <a:rPr sz="1050" b="0">
                <a:solidFill>
                  <a:srgbClr val="172033"/>
                </a:solidFill>
              </a:rPr>
              <a:t>58.4% ağırlıklı portföy marjı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1A6BB35-005C-4985-835E-FB960B5EC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476750"/>
            <a:ext cx="426720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4D6"/>
          </a:solidFill>
          <a:ln xmlns:a="http://schemas.openxmlformats.org/drawingml/2006/main" w="9525">
            <a:solidFill>
              <a:srgbClr val="F59E0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06EEE42-C867-477C-B21C-D08D65980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476750"/>
            <a:ext cx="571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B232061-4D75-47DD-9C1D-BA73DB89E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648200"/>
            <a:ext cx="3905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9E0B"/>
                </a:solidFill>
              </a:defRPr>
            </a:pPr>
            <a:r>
              <a:rPr sz="1200" b="1">
                <a:solidFill>
                  <a:srgbClr val="F59E0B"/>
                </a:solidFill>
              </a:rPr>
              <a:t>Talep Karşılama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DB9E0FB-25EE-4EA4-9F18-45124A07A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972050"/>
            <a:ext cx="3905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2033"/>
                </a:solidFill>
              </a:defRPr>
            </a:pPr>
            <a:r>
              <a:rPr sz="1050" b="0">
                <a:solidFill>
                  <a:srgbClr val="172033"/>
                </a:solidFill>
              </a:rPr>
              <a:t>86.9% karşılama oranı; satış kaybı fırsatı görünür.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5B39A69-F976-4513-8A89-4FD8C79CE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38900"/>
            <a:ext cx="590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67085"/>
                </a:solidFill>
              </a:defRPr>
            </a:pPr>
            <a:r>
              <a:rPr sz="675" b="0">
                <a:solidFill>
                  <a:srgbClr val="667085"/>
                </a:solidFill>
              </a:rPr>
              <a:t>MonacoLuxe ilhamlı sentetik portföy verisi | TRY | 2023-2026</a:t>
            </a:r>
          </a:p>
        </p:txBody>
      </p:sp>
    </p:spTree>
    <p:extLst>
      <p:ext uri="{BB962C8B-B14F-4D97-AF65-F5344CB8AC3E}">
        <p14:creationId xmlns:p14="http://schemas.microsoft.com/office/powerpoint/2010/main" val="130890127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">
            <a:extLst xmlns:a="http://schemas.openxmlformats.org/drawingml/2006/main">
              <a:ext uri="{FF2B5EF4-FFF2-40B4-BE49-F238E27FC236}">
                <a16:creationId xmlns:a16="http://schemas.microsoft.com/office/drawing/2014/main" id="{0AFF341B-0410-4164-9BA3-947BCD14B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76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D8DFF"/>
                </a:solidFill>
              </a:defRPr>
            </a:pPr>
            <a:r>
              <a:rPr sz="900" b="1">
                <a:solidFill>
                  <a:srgbClr val="3D8DFF"/>
                </a:solidFill>
              </a:rPr>
              <a:t>E-COMMERCE DEMAND &amp; INVENTORY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6CE47446-6DCA-4755-A53E-60A6DAB2F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3875"/>
            <a:ext cx="7810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32B"/>
                </a:solidFill>
              </a:defRPr>
            </a:pPr>
            <a:r>
              <a:rPr sz="2550" b="1">
                <a:solidFill>
                  <a:srgbClr val="0B132B"/>
                </a:solidFill>
              </a:rPr>
              <a:t>Talep Mevsimselliği</a:t>
            </a:r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7693E45D-1C33-475B-9BB7-63BCA3718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590550"/>
            <a:ext cx="3476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67085"/>
                </a:solidFill>
              </a:defRPr>
            </a:pPr>
            <a:r>
              <a:rPr sz="975" b="0">
                <a:solidFill>
                  <a:srgbClr val="667085"/>
                </a:solidFill>
              </a:rPr>
              <a:t>Kampanya ve sezon etkilerinin satış hacmine yansıması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D7E33A-95CC-4B7B-8B49-EF79BECDB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66800"/>
            <a:ext cx="11391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68B1991-BA40-4B75-905E-96D59D60B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3890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67085"/>
                </a:solidFill>
              </a:defRPr>
            </a:pPr>
            <a:r>
              <a:rPr sz="825" b="1">
                <a:solidFill>
                  <a:srgbClr val="667085"/>
                </a:solidFill>
              </a:rPr>
              <a:t>09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936DD4-D4A6-44AC-996F-FCE07145B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28750"/>
            <a:ext cx="11391900" cy="3810000"/>
          </a:xfrm>
          <a:prstGeom xmlns:a="http://schemas.openxmlformats.org/drawingml/2006/main" prst="roundRect">
            <a:avLst>
              <a:gd name="adj" fmla="val 3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2DB58E3-78AF-41F0-80CF-8C7E33960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0200"/>
            <a:ext cx="10972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B132B"/>
                </a:solidFill>
              </a:defRPr>
            </a:pPr>
            <a:r>
              <a:rPr sz="1125" b="1">
                <a:solidFill>
                  <a:srgbClr val="0B132B"/>
                </a:solidFill>
              </a:rPr>
              <a:t>Üç Aylık Talep, Satış ve Satış Kaybı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3BB5AFF-36DD-4730-8011-8F63BF98C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050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3ED"/>
          </a:solidFill>
          <a:ln xmlns:a="http://schemas.openxmlformats.org/drawingml/2006/main" w="0">
            <a:solidFill>
              <a:srgbClr val="DCE3ED"/>
            </a:solidFill>
            <a:prstDash val="solid"/>
          </a:ln>
        </p:spPr>
      </p:sp>
      <p:graphicFrame>
        <p:nvGraphicFramePr>
          <p:cNvPr id="27" name="Chart"/>
          <p:cNvGraphicFramePr/>
          <p:nvPr/>
        </p:nvGraphicFramePr>
        <p:xfrm>
          <a:off xmlns:a="http://schemas.openxmlformats.org/drawingml/2006/main" x="609600" y="2057400"/>
          <a:ext xmlns:a="http://schemas.openxmlformats.org/drawingml/2006/main" cx="10972800" cy="2952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f41eda0d9b14871"/>
          </a:graphicData>
        </a:graphic>
      </p:graphicFrame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733CA2C-93D8-4BA3-8169-7A2DEF8D1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448300"/>
            <a:ext cx="554355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E563A69-367F-4255-869F-A9A110AF1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448300"/>
            <a:ext cx="571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32BB324-05F7-46E7-894B-961B50F92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619750"/>
            <a:ext cx="5181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</a:defRPr>
            </a:pPr>
            <a:r>
              <a:rPr sz="1200" b="1">
                <a:solidFill>
                  <a:srgbClr val="3D8DFF"/>
                </a:solidFill>
              </a:rPr>
              <a:t>Talep sinyali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D382F21-2CE6-4B2D-80B9-35DE02856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943600"/>
            <a:ext cx="5181600" cy="9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2033"/>
                </a:solidFill>
              </a:defRPr>
            </a:pPr>
            <a:r>
              <a:rPr sz="1050" b="0">
                <a:solidFill>
                  <a:srgbClr val="172033"/>
                </a:solidFill>
              </a:rPr>
              <a:t>Kampanya ve sezon haftaları hacmi belirgin biçimde artırıyor.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CEECF2D-4278-44CC-BA69-527A12DF4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5448300"/>
            <a:ext cx="567690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FDECEC"/>
          </a:solidFill>
          <a:ln xmlns:a="http://schemas.openxmlformats.org/drawingml/2006/main" w="9525">
            <a:solidFill>
              <a:srgbClr val="D6454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6AA3997-65D4-4F41-A1C1-00626F336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5448300"/>
            <a:ext cx="571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4545"/>
          </a:solidFill>
          <a:ln xmlns:a="http://schemas.openxmlformats.org/drawingml/2006/main" w="0">
            <a:solidFill>
              <a:srgbClr val="D6454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6EF1C94-0198-4D19-9409-B1F834EBC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5619750"/>
            <a:ext cx="5314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D64545"/>
                </a:solidFill>
              </a:defRPr>
            </a:pPr>
            <a:r>
              <a:rPr sz="1200" b="1">
                <a:solidFill>
                  <a:srgbClr val="D64545"/>
                </a:solidFill>
              </a:rPr>
              <a:t>Stok etkisi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3BDD07B-FBC6-471E-8D9B-D6BC776DC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5943600"/>
            <a:ext cx="5314950" cy="9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2033"/>
                </a:solidFill>
              </a:defRPr>
            </a:pPr>
            <a:r>
              <a:rPr sz="1050" b="0">
                <a:solidFill>
                  <a:srgbClr val="172033"/>
                </a:solidFill>
              </a:rPr>
              <a:t>82096 adet tahmini satış kaybı planlamaya dâhil edildi.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1B6C05D-C7BC-4B24-ACC2-4848F8B20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38900"/>
            <a:ext cx="590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67085"/>
                </a:solidFill>
              </a:defRPr>
            </a:pPr>
            <a:r>
              <a:rPr sz="675" b="0">
                <a:solidFill>
                  <a:srgbClr val="667085"/>
                </a:solidFill>
              </a:rPr>
              <a:t>MonacoLuxe ilhamlı sentetik portföy verisi | TRY | 2023-2026</a:t>
            </a:r>
          </a:p>
        </p:txBody>
      </p:sp>
    </p:spTree>
    <p:extLst>
      <p:ext uri="{BB962C8B-B14F-4D97-AF65-F5344CB8AC3E}">
        <p14:creationId xmlns:p14="http://schemas.microsoft.com/office/powerpoint/2010/main" val="211299202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">
            <a:extLst xmlns:a="http://schemas.openxmlformats.org/drawingml/2006/main">
              <a:ext uri="{FF2B5EF4-FFF2-40B4-BE49-F238E27FC236}">
                <a16:creationId xmlns:a16="http://schemas.microsoft.com/office/drawing/2014/main" id="{BED37953-DF7B-4D07-B87B-5786B2534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76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D8DFF"/>
                </a:solidFill>
              </a:defRPr>
            </a:pPr>
            <a:r>
              <a:rPr sz="900" b="1">
                <a:solidFill>
                  <a:srgbClr val="3D8DFF"/>
                </a:solidFill>
              </a:rPr>
              <a:t>E-COMMERCE DEMAND &amp; INVENTORY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BF0CA328-CE05-478C-B4B2-2FDB9D5AE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3875"/>
            <a:ext cx="7810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32B"/>
                </a:solidFill>
              </a:defRPr>
            </a:pPr>
            <a:r>
              <a:rPr sz="2550" b="1">
                <a:solidFill>
                  <a:srgbClr val="0B132B"/>
                </a:solidFill>
              </a:rPr>
              <a:t>Tahminleme Yaklaşımı</a:t>
            </a:r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68864111-9C31-4524-B2A0-1E26DEB7F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590550"/>
            <a:ext cx="3476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67085"/>
                </a:solidFill>
              </a:defRPr>
            </a:pPr>
            <a:r>
              <a:rPr sz="975" b="0">
                <a:solidFill>
                  <a:srgbClr val="667085"/>
                </a:solidFill>
              </a:rPr>
              <a:t>Üç model, her SKU için yönetişimli tek şampiyon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856619-AE0A-488A-AF01-9F6CF8706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66800"/>
            <a:ext cx="11391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2B48D34-2783-4D82-9406-113509202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3890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67085"/>
                </a:solidFill>
              </a:defRPr>
            </a:pPr>
            <a:r>
              <a:rPr sz="825" b="1">
                <a:solidFill>
                  <a:srgbClr val="667085"/>
                </a:solidFill>
              </a:rPr>
              <a:t>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4D13B4-E308-4445-A060-1CF3B9511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66850"/>
            <a:ext cx="3562350" cy="1714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DCE3E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5E3F875-6E96-4480-B50A-02281B36A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</a:defRPr>
            </a:pPr>
            <a:r>
              <a:rPr sz="1350" b="1">
                <a:solidFill>
                  <a:srgbClr val="3D8DFF"/>
                </a:solidFill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775B074-FFC0-4145-A3FF-791BF053E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6573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B132B"/>
                </a:solidFill>
              </a:defRPr>
            </a:pPr>
            <a:r>
              <a:rPr sz="1425" b="1">
                <a:solidFill>
                  <a:srgbClr val="0B132B"/>
                </a:solidFill>
              </a:rPr>
              <a:t>Özellik üretimi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DBF2B23-D4E3-40D3-8470-1E057F90C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0750"/>
            <a:ext cx="30861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33"/>
                </a:solidFill>
              </a:defRPr>
            </a:pPr>
            <a:r>
              <a:rPr sz="1125" b="0">
                <a:solidFill>
                  <a:srgbClr val="172033"/>
                </a:solidFill>
              </a:rPr>
              <a:t>Takvim, kampanya, gecikmeli değer ve hareketli ortalamalar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CCB0883-A026-4684-B853-81B4FA2D4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1466850"/>
            <a:ext cx="3562350" cy="1714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DCE3E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58D6FFD-F316-492B-B5AA-CA0A5587E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67640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</a:defRPr>
            </a:pPr>
            <a:r>
              <a:rPr sz="1350" b="1">
                <a:solidFill>
                  <a:srgbClr val="3D8DFF"/>
                </a:solidFill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B041E0C-67EF-43C9-8C0E-F05548000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16573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B132B"/>
                </a:solidFill>
              </a:defRPr>
            </a:pPr>
            <a:r>
              <a:rPr sz="1425" b="1">
                <a:solidFill>
                  <a:srgbClr val="0B132B"/>
                </a:solidFill>
              </a:rPr>
              <a:t>13 haftalık geri test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53DA5A7-13F9-4136-91A9-986241D66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190750"/>
            <a:ext cx="30861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33"/>
                </a:solidFill>
              </a:defRPr>
            </a:pPr>
            <a:r>
              <a:rPr sz="1125" b="0">
                <a:solidFill>
                  <a:srgbClr val="172033"/>
                </a:solidFill>
              </a:rPr>
              <a:t>Gelecek bilgisi sızdırmadan son dönemi ölç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1E8F86B-41FF-4177-973B-9619EBF7A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466850"/>
            <a:ext cx="3562350" cy="1714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DCE3E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44FD04D-6B97-404F-99EC-C86B3F0B5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67640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</a:defRPr>
            </a:pPr>
            <a:r>
              <a:rPr sz="1350" b="1">
                <a:solidFill>
                  <a:srgbClr val="3D8DFF"/>
                </a:solidFill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5317FE2-CF2D-4F61-B4E0-23C6A917B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16573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B132B"/>
                </a:solidFill>
              </a:defRPr>
            </a:pPr>
            <a:r>
              <a:rPr sz="1425" b="1">
                <a:solidFill>
                  <a:srgbClr val="0B132B"/>
                </a:solidFill>
              </a:rPr>
              <a:t>SKU bazlı seçim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D342275-A4D7-4F07-A801-8C08E99FB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190750"/>
            <a:ext cx="30861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33"/>
                </a:solidFill>
              </a:defRPr>
            </a:pPr>
            <a:r>
              <a:rPr sz="1125" b="0">
                <a:solidFill>
                  <a:srgbClr val="172033"/>
                </a:solidFill>
              </a:rPr>
              <a:t>En düşük WAPE değerine göre şampiyonu belirle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949E876-02CA-425D-BA10-FBDFBAF0F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543300"/>
            <a:ext cx="3562350" cy="2076450"/>
          </a:xfrm>
          <a:prstGeom xmlns:a="http://schemas.openxmlformats.org/drawingml/2006/main" prst="roundRect">
            <a:avLst>
              <a:gd name="adj" fmla="val 550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6DCBF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062551A-55D9-4E25-BC58-7996B1AAB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848100"/>
            <a:ext cx="31051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6DCBF4"/>
                </a:solidFill>
              </a:defRPr>
            </a:pPr>
            <a:r>
              <a:rPr sz="1575" b="1">
                <a:solidFill>
                  <a:srgbClr val="6DCBF4"/>
                </a:solidFill>
              </a:rPr>
              <a:t>Mevsimsel Naif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A7EF8A5-15BE-4D9E-97AA-90C3FD9D4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591050"/>
            <a:ext cx="31051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33"/>
                </a:solidFill>
              </a:defRPr>
            </a:pPr>
            <a:r>
              <a:rPr sz="1200" b="0">
                <a:solidFill>
                  <a:srgbClr val="172033"/>
                </a:solidFill>
              </a:rPr>
              <a:t>Önceki yılın aynı ISO haftası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B8ED3D1-A1AD-404F-83FD-55A9C1FF3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3543300"/>
            <a:ext cx="3562350" cy="2076450"/>
          </a:xfrm>
          <a:prstGeom xmlns:a="http://schemas.openxmlformats.org/drawingml/2006/main" prst="roundRect">
            <a:avLst>
              <a:gd name="adj" fmla="val 550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59E0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00225A6-B34F-4D39-80A4-07E5F1551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848100"/>
            <a:ext cx="31051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59E0B"/>
                </a:solidFill>
              </a:defRPr>
            </a:pPr>
            <a:r>
              <a:rPr sz="1575" b="1">
                <a:solidFill>
                  <a:srgbClr val="F59E0B"/>
                </a:solidFill>
              </a:rPr>
              <a:t>8 Haftalık Hareketli Ort.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FE5DE9E-96F7-4268-A28F-0C5B6F956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4591050"/>
            <a:ext cx="31051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33"/>
                </a:solidFill>
              </a:defRPr>
            </a:pPr>
            <a:r>
              <a:rPr sz="1200" b="0">
                <a:solidFill>
                  <a:srgbClr val="172033"/>
                </a:solidFill>
              </a:rPr>
              <a:t>Kısa ve orta vadeli hareketli ortalama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9BDCAA1-86AB-42E4-A2EF-9AF242B7F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543300"/>
            <a:ext cx="3562350" cy="2076450"/>
          </a:xfrm>
          <a:prstGeom xmlns:a="http://schemas.openxmlformats.org/drawingml/2006/main" prst="roundRect">
            <a:avLst>
              <a:gd name="adj" fmla="val 550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8A55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6D73720-32AD-4CEA-80A6-E85EF3B25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848100"/>
            <a:ext cx="31051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8A558"/>
                </a:solidFill>
              </a:defRPr>
            </a:pPr>
            <a:r>
              <a:rPr sz="1575" b="1">
                <a:solidFill>
                  <a:srgbClr val="18A558"/>
                </a:solidFill>
              </a:rPr>
              <a:t>Gradient Boosting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85EEE04-D25F-4908-81D7-138A76A0F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591050"/>
            <a:ext cx="31051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33"/>
                </a:solidFill>
              </a:defRPr>
            </a:pPr>
            <a:r>
              <a:rPr sz="1200" b="0">
                <a:solidFill>
                  <a:srgbClr val="172033"/>
                </a:solidFill>
              </a:rPr>
              <a:t>Doğrusal olmayan talep ilişkileri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A556E4D-88D3-4E47-A289-D355D3B08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38900"/>
            <a:ext cx="590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67085"/>
                </a:solidFill>
              </a:defRPr>
            </a:pPr>
            <a:r>
              <a:rPr sz="675" b="0">
                <a:solidFill>
                  <a:srgbClr val="667085"/>
                </a:solidFill>
              </a:rPr>
              <a:t>MonacoLuxe ilhamlı sentetik portföy verisi | TRY | 2023-2026</a:t>
            </a:r>
          </a:p>
        </p:txBody>
      </p:sp>
    </p:spTree>
    <p:extLst>
      <p:ext uri="{BB962C8B-B14F-4D97-AF65-F5344CB8AC3E}">
        <p14:creationId xmlns:p14="http://schemas.microsoft.com/office/powerpoint/2010/main" val="163906729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">
            <a:extLst xmlns:a="http://schemas.openxmlformats.org/drawingml/2006/main">
              <a:ext uri="{FF2B5EF4-FFF2-40B4-BE49-F238E27FC236}">
                <a16:creationId xmlns:a16="http://schemas.microsoft.com/office/drawing/2014/main" id="{2DB48794-5428-48AF-88AD-85C1D6582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76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D8DFF"/>
                </a:solidFill>
              </a:defRPr>
            </a:pPr>
            <a:r>
              <a:rPr sz="900" b="1">
                <a:solidFill>
                  <a:srgbClr val="3D8DFF"/>
                </a:solidFill>
              </a:rPr>
              <a:t>E-COMMERCE DEMAND &amp; INVENTORY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61638B4B-A2A2-417D-9920-CD9848A8F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3875"/>
            <a:ext cx="7810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32B"/>
                </a:solidFill>
              </a:defRPr>
            </a:pPr>
            <a:r>
              <a:rPr sz="2550" b="1">
                <a:solidFill>
                  <a:srgbClr val="0B132B"/>
                </a:solidFill>
              </a:rPr>
              <a:t>Model Performansı</a:t>
            </a:r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E0C0C831-8D34-4152-BD89-6B8FD357C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590550"/>
            <a:ext cx="3476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67085"/>
                </a:solidFill>
              </a:defRPr>
            </a:pPr>
            <a:r>
              <a:rPr sz="975" b="0">
                <a:solidFill>
                  <a:srgbClr val="667085"/>
                </a:solidFill>
              </a:rPr>
              <a:t>Model seçimini destekleyen geri test kanıtları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E6FEB9-8125-431F-AC65-D6C3A6937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66800"/>
            <a:ext cx="11391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8FC2B0-7D9B-4300-B367-011BC3C78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3890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67085"/>
                </a:solidFill>
              </a:defRPr>
            </a:pPr>
            <a:r>
              <a:rPr sz="825" b="1">
                <a:solidFill>
                  <a:srgbClr val="667085"/>
                </a:solidFill>
              </a:rPr>
              <a:t>11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F8E7AE-035D-4406-9393-DD5059773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28750"/>
            <a:ext cx="6191250" cy="4476750"/>
          </a:xfrm>
          <a:prstGeom xmlns:a="http://schemas.openxmlformats.org/drawingml/2006/main" prst="roundRect">
            <a:avLst>
              <a:gd name="adj" fmla="val 25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FB80C27-77AE-425F-B28E-03424C7F1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0200"/>
            <a:ext cx="5772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B132B"/>
                </a:solidFill>
              </a:defRPr>
            </a:pPr>
            <a:r>
              <a:rPr sz="1125" b="1">
                <a:solidFill>
                  <a:srgbClr val="0B132B"/>
                </a:solidFill>
              </a:rPr>
              <a:t>Model Bazında Ortalama WAPE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1FC6252-A4C7-4505-8D04-A83CA8727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05000"/>
            <a:ext cx="5772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3ED"/>
          </a:solidFill>
          <a:ln xmlns:a="http://schemas.openxmlformats.org/drawingml/2006/main" w="0">
            <a:solidFill>
              <a:srgbClr val="DCE3ED"/>
            </a:solidFill>
            <a:prstDash val="solid"/>
          </a:ln>
        </p:spPr>
      </p:sp>
      <p:graphicFrame>
        <p:nvGraphicFramePr>
          <p:cNvPr id="32" name="Chart"/>
          <p:cNvGraphicFramePr/>
          <p:nvPr/>
        </p:nvGraphicFramePr>
        <p:xfrm>
          <a:off xmlns:a="http://schemas.openxmlformats.org/drawingml/2006/main" x="609600" y="2076450"/>
          <a:ext xmlns:a="http://schemas.openxmlformats.org/drawingml/2006/main" cx="5772150" cy="3333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821cc92ba634fc3"/>
          </a:graphicData>
        </a:graphic>
      </p:graphicFrame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A586A78-D6EA-4CC0-9C23-8B8914FC0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428750"/>
            <a:ext cx="4933950" cy="1381125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5A74FA0-74A1-4608-8A83-B7CBCCC18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428750"/>
            <a:ext cx="49339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8A558"/>
          </a:solidFill>
          <a:ln xmlns:a="http://schemas.openxmlformats.org/drawingml/2006/main" w="0">
            <a:solidFill>
              <a:srgbClr val="18A55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6BD8CB0-7B82-4211-BAF6-F5A16A838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1657350"/>
            <a:ext cx="455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67085"/>
                </a:solidFill>
              </a:defRPr>
            </a:pPr>
            <a:r>
              <a:rPr sz="900" b="1">
                <a:solidFill>
                  <a:srgbClr val="667085"/>
                </a:solidFill>
              </a:rPr>
              <a:t>ORTALAMA ŞAMPIYON WAPE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3A9A21A-C034-450E-817D-ED43AEFA4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1962150"/>
            <a:ext cx="4552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A558"/>
                </a:solidFill>
              </a:defRPr>
            </a:pPr>
            <a:r>
              <a:rPr sz="2100" b="1">
                <a:solidFill>
                  <a:srgbClr val="18A558"/>
                </a:solidFill>
              </a:rPr>
              <a:t>15.7%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CC540E8-EE06-4615-ADA6-8E1B68713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476500"/>
            <a:ext cx="4552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Portföy geri testi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E232E30-0C9C-41C0-96E9-F8E7624CE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105150"/>
            <a:ext cx="493395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CF72EB7-DD2D-42CC-A84D-F61DC40CA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105150"/>
            <a:ext cx="571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63554D0-0E14-4857-9E7E-D0E0954F1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276600"/>
            <a:ext cx="457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</a:defRPr>
            </a:pPr>
            <a:r>
              <a:rPr sz="1200" b="1">
                <a:solidFill>
                  <a:srgbClr val="3D8DFF"/>
                </a:solidFill>
              </a:rPr>
              <a:t>Şampiyon Dağılımı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277281E-8343-42A1-9319-C5CC1C04D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600450"/>
            <a:ext cx="4572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2033"/>
                </a:solidFill>
              </a:defRPr>
            </a:pPr>
            <a:r>
              <a:rPr sz="1050" b="0">
                <a:solidFill>
                  <a:srgbClr val="172033"/>
                </a:solidFill>
              </a:rPr>
              <a:t>Gradient Boosting: 55  •  Mevsimsel Naif: 5  •  8 Haftalık Hareketli Ort.: 0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E2D8137-0C06-4DF3-B318-1CFF4CF86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514850"/>
            <a:ext cx="4933950" cy="1390650"/>
          </a:xfrm>
          <a:prstGeom xmlns:a="http://schemas.openxmlformats.org/drawingml/2006/main" prst="roundRect">
            <a:avLst>
              <a:gd name="adj" fmla="val 8219"/>
            </a:avLst>
          </a:prstGeom>
          <a:solidFill xmlns:a="http://schemas.openxmlformats.org/drawingml/2006/main">
            <a:srgbClr val="F1ECFF"/>
          </a:solidFill>
          <a:ln xmlns:a="http://schemas.openxmlformats.org/drawingml/2006/main" w="9525">
            <a:solidFill>
              <a:srgbClr val="7C3AED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3A74B05-5933-42AA-BC2A-540A9AEC2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514850"/>
            <a:ext cx="57150" cy="1390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solidFill>
              <a:srgbClr val="7C3AED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321EE02-B534-4F2D-B134-56D6C1A67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686300"/>
            <a:ext cx="457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7C3AED"/>
                </a:solidFill>
              </a:defRPr>
            </a:pPr>
            <a:r>
              <a:rPr sz="1200" b="1">
                <a:solidFill>
                  <a:srgbClr val="7C3AED"/>
                </a:solidFill>
              </a:rPr>
              <a:t>Yönetişim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803D0A8-4BE3-47CE-AAC7-1469726FE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5010150"/>
            <a:ext cx="4572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2033"/>
                </a:solidFill>
              </a:defRPr>
            </a:pPr>
            <a:r>
              <a:rPr sz="1050" b="0">
                <a:solidFill>
                  <a:srgbClr val="172033"/>
                </a:solidFill>
              </a:rPr>
              <a:t>Her SKU için seçilen model, WAPE ve sapma değeri veri setine yazılır; stok hesabı aynı model belirsizliğini kullanır.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64D01F0-FFF9-477C-8A4C-D4424223D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38900"/>
            <a:ext cx="590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67085"/>
                </a:solidFill>
              </a:defRPr>
            </a:pPr>
            <a:r>
              <a:rPr sz="675" b="0">
                <a:solidFill>
                  <a:srgbClr val="667085"/>
                </a:solidFill>
              </a:rPr>
              <a:t>MonacoLuxe ilhamlı sentetik portföy verisi | TRY | 2023-2026</a:t>
            </a:r>
          </a:p>
        </p:txBody>
      </p:sp>
    </p:spTree>
    <p:extLst>
      <p:ext uri="{BB962C8B-B14F-4D97-AF65-F5344CB8AC3E}">
        <p14:creationId xmlns:p14="http://schemas.microsoft.com/office/powerpoint/2010/main" val="145703157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">
            <a:extLst xmlns:a="http://schemas.openxmlformats.org/drawingml/2006/main">
              <a:ext uri="{FF2B5EF4-FFF2-40B4-BE49-F238E27FC236}">
                <a16:creationId xmlns:a16="http://schemas.microsoft.com/office/drawing/2014/main" id="{80CC7FB3-BD69-4FEC-8291-DB1D012AA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76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D8DFF"/>
                </a:solidFill>
              </a:defRPr>
            </a:pPr>
            <a:r>
              <a:rPr sz="900" b="1">
                <a:solidFill>
                  <a:srgbClr val="3D8DFF"/>
                </a:solidFill>
              </a:rPr>
              <a:t>E-COMMERCE DEMAND &amp; INVENTORY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9A26F6F4-3EBA-4378-A74D-BB07A8931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3875"/>
            <a:ext cx="7810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32B"/>
                </a:solidFill>
              </a:defRPr>
            </a:pPr>
            <a:r>
              <a:rPr sz="2550" b="1">
                <a:solidFill>
                  <a:srgbClr val="0B132B"/>
                </a:solidFill>
              </a:rPr>
              <a:t>2026 Talep Tahmini</a:t>
            </a:r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A3A62E6A-DDE1-4843-9DE0-B71C55B8A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590550"/>
            <a:ext cx="3476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67085"/>
                </a:solidFill>
              </a:defRPr>
            </a:pPr>
            <a:r>
              <a:rPr sz="975" b="0">
                <a:solidFill>
                  <a:srgbClr val="667085"/>
                </a:solidFill>
              </a:rPr>
              <a:t>Belirsizliği görünür kılan planlama baz çizgisi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0FB9C2-243F-43C3-A0DC-A3A58EE71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66800"/>
            <a:ext cx="11391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76415C-B292-4C7D-9F7C-42FE8FD6F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3890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67085"/>
                </a:solidFill>
              </a:defRPr>
            </a:pPr>
            <a:r>
              <a:rPr sz="825" b="1">
                <a:solidFill>
                  <a:srgbClr val="667085"/>
                </a:solidFill>
              </a:rPr>
              <a:t>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994632-8164-4649-9818-2A3CD9FF4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28750"/>
            <a:ext cx="7239000" cy="4476750"/>
          </a:xfrm>
          <a:prstGeom xmlns:a="http://schemas.openxmlformats.org/drawingml/2006/main" prst="roundRect">
            <a:avLst>
              <a:gd name="adj" fmla="val 25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8C22AB-B0CF-481B-9066-2CBE6FCE0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0200"/>
            <a:ext cx="6819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B132B"/>
                </a:solidFill>
              </a:defRPr>
            </a:pPr>
            <a:r>
              <a:rPr sz="1125" b="1">
                <a:solidFill>
                  <a:srgbClr val="0B132B"/>
                </a:solidFill>
              </a:rPr>
              <a:t>Aylık Talep Tahmini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52D344E-2818-477E-9743-5696FE221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05000"/>
            <a:ext cx="6819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3ED"/>
          </a:solidFill>
          <a:ln xmlns:a="http://schemas.openxmlformats.org/drawingml/2006/main" w="0">
            <a:solidFill>
              <a:srgbClr val="DCE3ED"/>
            </a:solidFill>
            <a:prstDash val="solid"/>
          </a:ln>
        </p:spPr>
      </p:sp>
      <p:graphicFrame>
        <p:nvGraphicFramePr>
          <p:cNvPr id="33" name="Chart"/>
          <p:cNvGraphicFramePr/>
          <p:nvPr/>
        </p:nvGraphicFramePr>
        <p:xfrm>
          <a:off xmlns:a="http://schemas.openxmlformats.org/drawingml/2006/main" x="609600" y="2076450"/>
          <a:ext xmlns:a="http://schemas.openxmlformats.org/drawingml/2006/main" cx="6819900" cy="3333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e89ea2d024374889"/>
          </a:graphicData>
        </a:graphic>
      </p:graphicFrame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F948A37-9851-4C0B-BE9B-9BE7442F7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428750"/>
            <a:ext cx="3886200" cy="1381125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EA538D0-B08C-4BD0-96FD-58A83C444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428750"/>
            <a:ext cx="388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E7D3DB9-438A-4509-97CD-045801053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657350"/>
            <a:ext cx="3505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67085"/>
                </a:solidFill>
              </a:defRPr>
            </a:pPr>
            <a:r>
              <a:rPr sz="900" b="1">
                <a:solidFill>
                  <a:srgbClr val="667085"/>
                </a:solidFill>
              </a:rPr>
              <a:t>TAHMIN ADEDI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4E5DFE0-19F8-4C23-9A72-3F3164F76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962150"/>
            <a:ext cx="3505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3D8DFF"/>
                </a:solidFill>
              </a:defRPr>
            </a:pPr>
            <a:r>
              <a:rPr sz="2100" b="1">
                <a:solidFill>
                  <a:srgbClr val="3D8DFF"/>
                </a:solidFill>
              </a:rPr>
              <a:t>242.443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CE0C917-1B2B-47BF-A031-3CE040274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476500"/>
            <a:ext cx="3505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52 weeks • 60 SKUs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836B6B8-0586-4C3A-8D63-FC83C89DD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143250"/>
            <a:ext cx="3886200" cy="1381125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D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866F28B-5311-4646-B8B7-683E2FD24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143250"/>
            <a:ext cx="388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DCBF4"/>
          </a:solidFill>
          <a:ln xmlns:a="http://schemas.openxmlformats.org/drawingml/2006/main" w="0">
            <a:solidFill>
              <a:srgbClr val="6DCBF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EE72E25-54EA-4341-AFA7-47FE4467A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371850"/>
            <a:ext cx="3505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67085"/>
                </a:solidFill>
              </a:defRPr>
            </a:pPr>
            <a:r>
              <a:rPr sz="900" b="1">
                <a:solidFill>
                  <a:srgbClr val="667085"/>
                </a:solidFill>
              </a:rPr>
              <a:t>TAHMINI CIRO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0665DEA-EE31-4821-98BB-55A9A3C18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676650"/>
            <a:ext cx="3505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6DCBF4"/>
                </a:solidFill>
              </a:defRPr>
            </a:pPr>
            <a:r>
              <a:rPr sz="2100" b="1">
                <a:solidFill>
                  <a:srgbClr val="6DCBF4"/>
                </a:solidFill>
              </a:rPr>
              <a:t>₺397.8M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6E3AE90-6266-44D0-97A3-62B05AA3E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191000"/>
            <a:ext cx="3505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Beklenen satış fiyatı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E664EC8-096B-4E99-B013-E358F8900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857750"/>
            <a:ext cx="3886200" cy="1047750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F1ECFF"/>
          </a:solidFill>
          <a:ln xmlns:a="http://schemas.openxmlformats.org/drawingml/2006/main" w="9525">
            <a:solidFill>
              <a:srgbClr val="7C3AED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3DC786F-94C4-4502-B266-2908ABC0F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857750"/>
            <a:ext cx="571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solidFill>
              <a:srgbClr val="7C3AED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C85CCA0-A935-4FC0-8DFC-DE3E98B9A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029200"/>
            <a:ext cx="352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7C3AED"/>
                </a:solidFill>
              </a:defRPr>
            </a:pPr>
            <a:r>
              <a:rPr sz="1200" b="1">
                <a:solidFill>
                  <a:srgbClr val="7C3AED"/>
                </a:solidFill>
              </a:rPr>
              <a:t>%80 Tahmin Aralığı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34D38A0-D889-415F-B132-5C5313B4E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353050"/>
            <a:ext cx="3524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2033"/>
                </a:solidFill>
              </a:defRPr>
            </a:pPr>
            <a:r>
              <a:rPr sz="1050" b="0">
                <a:solidFill>
                  <a:srgbClr val="172033"/>
                </a:solidFill>
              </a:rPr>
              <a:t>Alt ve üst bantlar, emniyet stoğu ve kapasite stres testini destekler.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E07668C-4BD3-4FC2-AE75-8DB3E2137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38900"/>
            <a:ext cx="590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67085"/>
                </a:solidFill>
              </a:defRPr>
            </a:pPr>
            <a:r>
              <a:rPr sz="675" b="0">
                <a:solidFill>
                  <a:srgbClr val="667085"/>
                </a:solidFill>
              </a:rPr>
              <a:t>MonacoLuxe ilhamlı sentetik portföy verisi | TRY | 2023-2026</a:t>
            </a:r>
          </a:p>
        </p:txBody>
      </p:sp>
    </p:spTree>
    <p:extLst>
      <p:ext uri="{BB962C8B-B14F-4D97-AF65-F5344CB8AC3E}">
        <p14:creationId xmlns:p14="http://schemas.microsoft.com/office/powerpoint/2010/main" val="632571941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">
            <a:extLst xmlns:a="http://schemas.openxmlformats.org/drawingml/2006/main">
              <a:ext uri="{FF2B5EF4-FFF2-40B4-BE49-F238E27FC236}">
                <a16:creationId xmlns:a16="http://schemas.microsoft.com/office/drawing/2014/main" id="{5EA10BD1-0DEB-4FAB-9EA6-EAF4048D6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76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D8DFF"/>
                </a:solidFill>
              </a:defRPr>
            </a:pPr>
            <a:r>
              <a:rPr sz="900" b="1">
                <a:solidFill>
                  <a:srgbClr val="3D8DFF"/>
                </a:solidFill>
              </a:rPr>
              <a:t>E-COMMERCE DEMAND &amp; INVENTORY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7E080EC9-8E1D-40B9-9EED-ADAB5C881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3875"/>
            <a:ext cx="7810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32B"/>
                </a:solidFill>
              </a:defRPr>
            </a:pPr>
            <a:r>
              <a:rPr sz="2550" b="1">
                <a:solidFill>
                  <a:srgbClr val="0B132B"/>
                </a:solidFill>
              </a:rPr>
              <a:t>Stok Optimizasyonu Mantığı</a:t>
            </a:r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862C3146-EE1F-4DD5-BAB9-88DDAB125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590550"/>
            <a:ext cx="3476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67085"/>
                </a:solidFill>
              </a:defRPr>
            </a:pPr>
            <a:r>
              <a:rPr sz="975" b="0">
                <a:solidFill>
                  <a:srgbClr val="667085"/>
                </a:solidFill>
              </a:rPr>
              <a:t>Tahmin belirsizliğini satın alma kararına dönüştürme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D0D188-10F9-4A16-909A-CDA42532F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66800"/>
            <a:ext cx="11391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7ABE35-B312-418D-A50E-1540333C3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3890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67085"/>
                </a:solidFill>
              </a:defRPr>
            </a:pPr>
            <a:r>
              <a:rPr sz="825" b="1">
                <a:solidFill>
                  <a:srgbClr val="667085"/>
                </a:solidFill>
              </a:rPr>
              <a:t>13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6D4007-0B59-42BA-97E1-A1C11C5EB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66850"/>
            <a:ext cx="723900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ABCA428-10B4-4C19-9296-3D5A21724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65735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3D8DFF"/>
                </a:solidFill>
              </a:defRPr>
            </a:pPr>
            <a:r>
              <a:rPr sz="1425" b="1">
                <a:solidFill>
                  <a:srgbClr val="3D8DFF"/>
                </a:solidFill>
              </a:rPr>
              <a:t>Güvenlik Stoğu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50ED766-8F57-402F-9E1B-D4500C2FF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657350"/>
            <a:ext cx="4191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B132B"/>
                </a:solidFill>
              </a:defRPr>
            </a:pPr>
            <a:r>
              <a:rPr sz="1275" b="1">
                <a:solidFill>
                  <a:srgbClr val="0B132B"/>
                </a:solidFill>
              </a:rPr>
              <a:t>z × hata standart sapması × √(termin haftası)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BEAE5CC-EE78-440C-A98B-37DB67207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152650"/>
            <a:ext cx="419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7085"/>
                </a:solidFill>
              </a:defRPr>
            </a:pPr>
            <a:r>
              <a:rPr sz="1050" b="0">
                <a:solidFill>
                  <a:srgbClr val="667085"/>
                </a:solidFill>
              </a:rPr>
              <a:t>Hizmet seviyesi koruması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829C957-5F58-4623-A0A8-3A22E90E8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933700"/>
            <a:ext cx="723900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6DCBF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73EDF55-79FC-41A3-8333-5B31E354A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12420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6DCBF4"/>
                </a:solidFill>
              </a:defRPr>
            </a:pPr>
            <a:r>
              <a:rPr sz="1425" b="1">
                <a:solidFill>
                  <a:srgbClr val="6DCBF4"/>
                </a:solidFill>
              </a:rPr>
              <a:t>Yeniden Sipariş Noktası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5D340EB-1EBD-4C96-8A53-FF66F68C5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124200"/>
            <a:ext cx="4191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B132B"/>
                </a:solidFill>
              </a:defRPr>
            </a:pPr>
            <a:r>
              <a:rPr sz="1275" b="1">
                <a:solidFill>
                  <a:srgbClr val="0B132B"/>
                </a:solidFill>
              </a:rPr>
              <a:t>Termin talebi + güvenlik stoğu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93355EE-8055-4D94-B432-B4F6E1F4E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619500"/>
            <a:ext cx="419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7085"/>
                </a:solidFill>
              </a:defRPr>
            </a:pPr>
            <a:r>
              <a:rPr sz="1050" b="0">
                <a:solidFill>
                  <a:srgbClr val="667085"/>
                </a:solidFill>
              </a:rPr>
              <a:t>Ne zaman sipariş verilmeli?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B40EF35-4BD4-42EB-AE8E-1B20F1BDE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400550"/>
            <a:ext cx="723900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8A55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95617F6-B167-42A5-8F27-90EA59148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59105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8A558"/>
                </a:solidFill>
              </a:defRPr>
            </a:pPr>
            <a:r>
              <a:rPr sz="1425" b="1">
                <a:solidFill>
                  <a:srgbClr val="18A558"/>
                </a:solidFill>
              </a:rPr>
              <a:t>Ekonomik Sipariş Miktarı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D587BE3-7EA1-4FCA-A36E-25CB0C1E8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591050"/>
            <a:ext cx="4191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B132B"/>
                </a:solidFill>
              </a:defRPr>
            </a:pPr>
            <a:r>
              <a:rPr sz="1275" b="1">
                <a:solidFill>
                  <a:srgbClr val="0B132B"/>
                </a:solidFill>
              </a:rPr>
              <a:t>√(2 × yıllık talep × sipariş maliyeti / elde tutma maliyeti)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368C910-EF2D-43BA-B744-F4227B7FF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5086350"/>
            <a:ext cx="419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7085"/>
                </a:solidFill>
              </a:defRPr>
            </a:pPr>
            <a:r>
              <a:rPr sz="1050" b="0">
                <a:solidFill>
                  <a:srgbClr val="667085"/>
                </a:solidFill>
              </a:rPr>
              <a:t>Ne kadar sipariş verilmeli?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8041016-8699-4968-8F9D-1F16C397D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1466850"/>
            <a:ext cx="3810000" cy="4171950"/>
          </a:xfrm>
          <a:prstGeom xmlns:a="http://schemas.openxmlformats.org/drawingml/2006/main" prst="roundRect">
            <a:avLst>
              <a:gd name="adj" fmla="val 3000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DCE3ED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5102269-66E2-4959-9E1C-DC05D6A63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1809750"/>
            <a:ext cx="3238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32B"/>
                </a:solidFill>
              </a:defRPr>
            </a:pPr>
            <a:r>
              <a:rPr sz="1800" b="1">
                <a:solidFill>
                  <a:srgbClr val="0B132B"/>
                </a:solidFill>
              </a:rPr>
              <a:t>İş Kuralları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03552B4-21DC-406C-8738-7AC558186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5050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B1A9F5B-B351-4559-A5B5-1290C340B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457450"/>
            <a:ext cx="2819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33"/>
                </a:solidFill>
              </a:defRPr>
            </a:pPr>
            <a:r>
              <a:rPr sz="1200" b="0">
                <a:solidFill>
                  <a:srgbClr val="172033"/>
                </a:solidFill>
              </a:rPr>
              <a:t>Minimum sipariş miktarı (MOQ)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2612D3D-1313-4CF9-ADFE-41D7A295E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0384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6EE4A2E-17FC-46A6-B5F8-B30134027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990850"/>
            <a:ext cx="2819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33"/>
                </a:solidFill>
              </a:defRPr>
            </a:pPr>
            <a:r>
              <a:rPr sz="1200" b="0">
                <a:solidFill>
                  <a:srgbClr val="172033"/>
                </a:solidFill>
              </a:rPr>
              <a:t>Koli / paket katı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B7728F7-C6FC-430F-8103-14028081B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5718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C6D25A6-5A66-4F23-9F3A-B1B8E925B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524250"/>
            <a:ext cx="2819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33"/>
                </a:solidFill>
              </a:defRPr>
            </a:pPr>
            <a:r>
              <a:rPr sz="1200" b="0">
                <a:solidFill>
                  <a:srgbClr val="172033"/>
                </a:solidFill>
              </a:rPr>
              <a:t>Mevcut ve yoldaki stok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93E90DA-D616-4AF4-9CEC-0EDF3ADCF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1052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9FB35DB-D948-4D14-AC37-1FD85B62A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057650"/>
            <a:ext cx="2819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33"/>
                </a:solidFill>
              </a:defRPr>
            </a:pPr>
            <a:r>
              <a:rPr sz="1200" b="0">
                <a:solidFill>
                  <a:srgbClr val="172033"/>
                </a:solidFill>
              </a:rPr>
              <a:t>Hizmet seviyesi hedefi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6047932-AB20-4E8E-874C-C6A236DF9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6386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E1BEC50-44BC-4CA7-8624-2390276E4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591050"/>
            <a:ext cx="2819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33"/>
                </a:solidFill>
              </a:defRPr>
            </a:pPr>
            <a:r>
              <a:rPr sz="1200" b="0">
                <a:solidFill>
                  <a:srgbClr val="172033"/>
                </a:solidFill>
              </a:rPr>
              <a:t>Yıllık elde tutma oranı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0A70564-7C91-4151-8D6C-21624CFBD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38900"/>
            <a:ext cx="590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67085"/>
                </a:solidFill>
              </a:defRPr>
            </a:pPr>
            <a:r>
              <a:rPr sz="675" b="0">
                <a:solidFill>
                  <a:srgbClr val="667085"/>
                </a:solidFill>
              </a:rPr>
              <a:t>MonacoLuxe ilhamlı sentetik portföy verisi | TRY | 2023-2026</a:t>
            </a:r>
          </a:p>
        </p:txBody>
      </p:sp>
    </p:spTree>
    <p:extLst>
      <p:ext uri="{BB962C8B-B14F-4D97-AF65-F5344CB8AC3E}">
        <p14:creationId xmlns:p14="http://schemas.microsoft.com/office/powerpoint/2010/main" val="1459698760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">
            <a:extLst xmlns:a="http://schemas.openxmlformats.org/drawingml/2006/main">
              <a:ext uri="{FF2B5EF4-FFF2-40B4-BE49-F238E27FC236}">
                <a16:creationId xmlns:a16="http://schemas.microsoft.com/office/drawing/2014/main" id="{BF31AEDE-01B1-4E9B-8E9F-A04FF7A8D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76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D8DFF"/>
                </a:solidFill>
              </a:defRPr>
            </a:pPr>
            <a:r>
              <a:rPr sz="900" b="1">
                <a:solidFill>
                  <a:srgbClr val="3D8DFF"/>
                </a:solidFill>
              </a:rPr>
              <a:t>E-COMMERCE DEMAND &amp; INVENTORY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06F270E7-A54A-404C-864C-31D84D57F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3875"/>
            <a:ext cx="7810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32B"/>
                </a:solidFill>
              </a:defRPr>
            </a:pPr>
            <a:r>
              <a:rPr sz="2550" b="1">
                <a:solidFill>
                  <a:srgbClr val="0B132B"/>
                </a:solidFill>
              </a:rPr>
              <a:t>Stok Sağlığı</a:t>
            </a:r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C6C9F83F-D7B9-4378-9255-BDED25D3C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590550"/>
            <a:ext cx="3476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67085"/>
                </a:solidFill>
              </a:defRPr>
            </a:pPr>
            <a:r>
              <a:rPr sz="975" b="0">
                <a:solidFill>
                  <a:srgbClr val="667085"/>
                </a:solidFill>
              </a:rPr>
              <a:t>Kapsama, stok riski ve aksiyon durumu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3487F4-63FA-4D9D-B6C7-6C41BFA63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66800"/>
            <a:ext cx="11391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86DA89-7576-4DBA-A129-413A025DC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3890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67085"/>
                </a:solidFill>
              </a:defRPr>
            </a:pPr>
            <a:r>
              <a:rPr sz="825" b="1">
                <a:solidFill>
                  <a:srgbClr val="667085"/>
                </a:solidFill>
              </a:rPr>
              <a:t>14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F4C1AE-4EDF-4FA0-9781-5D5D10DCC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28750"/>
            <a:ext cx="6858000" cy="4476750"/>
          </a:xfrm>
          <a:prstGeom xmlns:a="http://schemas.openxmlformats.org/drawingml/2006/main" prst="roundRect">
            <a:avLst>
              <a:gd name="adj" fmla="val 25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0CC88B-5E31-4829-AEB5-81DDFBD64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0200"/>
            <a:ext cx="6438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B132B"/>
                </a:solidFill>
              </a:defRPr>
            </a:pPr>
            <a:r>
              <a:rPr sz="1125" b="1">
                <a:solidFill>
                  <a:srgbClr val="0B132B"/>
                </a:solidFill>
              </a:rPr>
              <a:t>Kategori Bazında Tahmini Stok Haftası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CD615CF-80F0-4172-AF8F-2254DD06B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05000"/>
            <a:ext cx="6438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3ED"/>
          </a:solidFill>
          <a:ln xmlns:a="http://schemas.openxmlformats.org/drawingml/2006/main" w="0">
            <a:solidFill>
              <a:srgbClr val="DCE3ED"/>
            </a:solidFill>
            <a:prstDash val="solid"/>
          </a:ln>
        </p:spPr>
      </p:sp>
      <p:graphicFrame>
        <p:nvGraphicFramePr>
          <p:cNvPr id="32" name="Chart"/>
          <p:cNvGraphicFramePr/>
          <p:nvPr/>
        </p:nvGraphicFramePr>
        <p:xfrm>
          <a:off xmlns:a="http://schemas.openxmlformats.org/drawingml/2006/main" x="609600" y="2076450"/>
          <a:ext xmlns:a="http://schemas.openxmlformats.org/drawingml/2006/main" cx="6438900" cy="3333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e326ccc124cc41f3"/>
          </a:graphicData>
        </a:graphic>
      </p:graphicFrame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93E9042-2504-4EE6-BE0A-E930231D9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428750"/>
            <a:ext cx="4267200" cy="1381125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709A45A-4CC8-44E1-872F-7BA8DA626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428750"/>
            <a:ext cx="4267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DCBF4"/>
          </a:solidFill>
          <a:ln xmlns:a="http://schemas.openxmlformats.org/drawingml/2006/main" w="0">
            <a:solidFill>
              <a:srgbClr val="6DCBF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BC40C80-79FA-48F8-A9B5-D36A8DA47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657350"/>
            <a:ext cx="3886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67085"/>
                </a:solidFill>
              </a:defRPr>
            </a:pPr>
            <a:r>
              <a:rPr sz="900" b="1">
                <a:solidFill>
                  <a:srgbClr val="667085"/>
                </a:solidFill>
              </a:rPr>
              <a:t>ORTALAMA STOK HAFTASI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3FF94A7-9A28-4606-AE3D-22414B700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962150"/>
            <a:ext cx="3886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6DCBF4"/>
                </a:solidFill>
              </a:defRPr>
            </a:pPr>
            <a:r>
              <a:rPr sz="2100" b="1">
                <a:solidFill>
                  <a:srgbClr val="6DCBF4"/>
                </a:solidFill>
              </a:rPr>
              <a:t>5.7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E5AD344-6812-4DDD-B462-07084BABA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476500"/>
            <a:ext cx="3886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Baz senaryo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014C09C-F91F-41DA-BC77-B43C4E0D7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143250"/>
            <a:ext cx="426720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1ACF093-E2A7-4A12-AA21-E9680FD9D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143250"/>
            <a:ext cx="571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B4D60A2-F710-4C2A-94D1-FDCCE0864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314700"/>
            <a:ext cx="3905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</a:defRPr>
            </a:pPr>
            <a:r>
              <a:rPr sz="1200" b="1">
                <a:solidFill>
                  <a:srgbClr val="3D8DFF"/>
                </a:solidFill>
              </a:rPr>
              <a:t>Aksiyon Dağılımı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834F9D1-4A30-45D4-B1FE-E34B0C8A8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638550"/>
            <a:ext cx="3905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2033"/>
                </a:solidFill>
              </a:defRPr>
            </a:pPr>
            <a:r>
              <a:rPr sz="1050" b="0">
                <a:solidFill>
                  <a:srgbClr val="172033"/>
                </a:solidFill>
              </a:rPr>
              <a:t>ORDER NOW: 10  •  MONITOR: 5  •  HEALTHY: 45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92022DC-C62C-4BF6-9BA2-0265FDB41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552950"/>
            <a:ext cx="4267200" cy="1352550"/>
          </a:xfrm>
          <a:prstGeom xmlns:a="http://schemas.openxmlformats.org/drawingml/2006/main" prst="roundRect">
            <a:avLst>
              <a:gd name="adj" fmla="val 8451"/>
            </a:avLst>
          </a:prstGeom>
          <a:solidFill xmlns:a="http://schemas.openxmlformats.org/drawingml/2006/main">
            <a:srgbClr val="FDECEC"/>
          </a:solidFill>
          <a:ln xmlns:a="http://schemas.openxmlformats.org/drawingml/2006/main" w="9525">
            <a:solidFill>
              <a:srgbClr val="D6454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B0049B5-3E55-4CE9-AB74-16EF695E2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552950"/>
            <a:ext cx="5715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4545"/>
          </a:solidFill>
          <a:ln xmlns:a="http://schemas.openxmlformats.org/drawingml/2006/main" w="0">
            <a:solidFill>
              <a:srgbClr val="D6454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9CEB4DB-156C-44AF-AAA7-AFCB986AE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724400"/>
            <a:ext cx="3905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D64545"/>
                </a:solidFill>
              </a:defRPr>
            </a:pPr>
            <a:r>
              <a:rPr sz="1200" b="1">
                <a:solidFill>
                  <a:srgbClr val="D64545"/>
                </a:solidFill>
              </a:rPr>
              <a:t>Öncelik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4F67C78-64B0-4E43-9AB3-9505B90F4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5048250"/>
            <a:ext cx="3905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2033"/>
                </a:solidFill>
              </a:defRPr>
            </a:pPr>
            <a:r>
              <a:rPr sz="1050" b="0">
                <a:solidFill>
                  <a:srgbClr val="172033"/>
                </a:solidFill>
              </a:rPr>
              <a:t>Düşük stok haftası ve yüksek satış potansiyeli birlikte değerlendirilerek sipariş sırası belirlenir.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B106420-5DE4-4AD0-B161-369020F20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38900"/>
            <a:ext cx="590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67085"/>
                </a:solidFill>
              </a:defRPr>
            </a:pPr>
            <a:r>
              <a:rPr sz="675" b="0">
                <a:solidFill>
                  <a:srgbClr val="667085"/>
                </a:solidFill>
              </a:rPr>
              <a:t>MonacoLuxe ilhamlı sentetik portföy verisi | TRY | 2023-2026</a:t>
            </a:r>
          </a:p>
        </p:txBody>
      </p:sp>
    </p:spTree>
    <p:extLst>
      <p:ext uri="{BB962C8B-B14F-4D97-AF65-F5344CB8AC3E}">
        <p14:creationId xmlns:p14="http://schemas.microsoft.com/office/powerpoint/2010/main" val="519672536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">
            <a:extLst xmlns:a="http://schemas.openxmlformats.org/drawingml/2006/main">
              <a:ext uri="{FF2B5EF4-FFF2-40B4-BE49-F238E27FC236}">
                <a16:creationId xmlns:a16="http://schemas.microsoft.com/office/drawing/2014/main" id="{13DE0D17-243B-4881-B1A3-D99C83913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76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D8DFF"/>
                </a:solidFill>
              </a:defRPr>
            </a:pPr>
            <a:r>
              <a:rPr sz="900" b="1">
                <a:solidFill>
                  <a:srgbClr val="3D8DFF"/>
                </a:solidFill>
              </a:rPr>
              <a:t>E-COMMERCE DEMAND &amp; INVENTORY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91B09613-D858-4074-B2C7-7A2E62784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3875"/>
            <a:ext cx="7810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32B"/>
                </a:solidFill>
              </a:defRPr>
            </a:pPr>
            <a:r>
              <a:rPr sz="2550" b="1">
                <a:solidFill>
                  <a:srgbClr val="0B132B"/>
                </a:solidFill>
              </a:rPr>
              <a:t>Yeniden Sipariş Planı</a:t>
            </a:r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BD79ADA9-615B-4C0C-99CD-CA960A762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590550"/>
            <a:ext cx="3476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67085"/>
                </a:solidFill>
              </a:defRPr>
            </a:pPr>
            <a:r>
              <a:rPr sz="975" b="0">
                <a:solidFill>
                  <a:srgbClr val="667085"/>
                </a:solidFill>
              </a:rPr>
              <a:t>Baz senaryodaki öncelikli satın alma ihtiyaçları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9CE9E2-86A1-4901-9EB5-F74343F32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66800"/>
            <a:ext cx="11391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043970-4252-403D-B455-CE7F7E9CA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3890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67085"/>
                </a:solidFill>
              </a:defRPr>
            </a:pPr>
            <a:r>
              <a:rPr sz="825" b="1">
                <a:solidFill>
                  <a:srgbClr val="667085"/>
                </a:solidFill>
              </a:rPr>
              <a:t>15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F06561-B8BC-4934-9562-4D7446E4B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28750"/>
            <a:ext cx="6191250" cy="4476750"/>
          </a:xfrm>
          <a:prstGeom xmlns:a="http://schemas.openxmlformats.org/drawingml/2006/main" prst="roundRect">
            <a:avLst>
              <a:gd name="adj" fmla="val 25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7493CAE-6B7E-46DB-BBAC-5024E341B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0200"/>
            <a:ext cx="5772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B132B"/>
                </a:solidFill>
              </a:defRPr>
            </a:pPr>
            <a:r>
              <a:rPr sz="1125" b="1">
                <a:solidFill>
                  <a:srgbClr val="0B132B"/>
                </a:solidFill>
              </a:rPr>
              <a:t>En Yüksek Acil Sipariş Yatırımları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77BD554-078E-4321-AD8E-6FE9836BC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05000"/>
            <a:ext cx="5772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3ED"/>
          </a:solidFill>
          <a:ln xmlns:a="http://schemas.openxmlformats.org/drawingml/2006/main" w="0">
            <a:solidFill>
              <a:srgbClr val="DCE3ED"/>
            </a:solidFill>
            <a:prstDash val="solid"/>
          </a:ln>
        </p:spPr>
      </p:sp>
      <p:graphicFrame>
        <p:nvGraphicFramePr>
          <p:cNvPr id="64" name="Chart"/>
          <p:cNvGraphicFramePr/>
          <p:nvPr/>
        </p:nvGraphicFramePr>
        <p:xfrm>
          <a:off xmlns:a="http://schemas.openxmlformats.org/drawingml/2006/main" x="609600" y="2076450"/>
          <a:ext xmlns:a="http://schemas.openxmlformats.org/drawingml/2006/main" cx="5772150" cy="3333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c19fe256bd14be5"/>
          </a:graphicData>
        </a:graphic>
      </p:graphicFrame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1C971F3-4660-4132-ADE6-DFBAF403C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524000"/>
            <a:ext cx="476250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13D"/>
          </a:solidFill>
          <a:ln xmlns:a="http://schemas.openxmlformats.org/drawingml/2006/main" w="0">
            <a:solidFill>
              <a:srgbClr val="14213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02FE917-08C1-4F3D-9B07-13A653A4C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1590675"/>
            <a:ext cx="8953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SKU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61C69D6-27B9-40C3-81DF-4B7053441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1590675"/>
            <a:ext cx="13716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Kategori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B10EA84-C99D-4876-80D9-50DA1BFCF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1590675"/>
            <a:ext cx="8001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Miktar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82E481D-BD12-4399-8B3F-0C5B1D960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1590675"/>
            <a:ext cx="10858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Yatırım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317A523-2530-4815-9926-903134672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971675"/>
            <a:ext cx="476250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3">
            <a:solidFill>
              <a:srgbClr val="DCE3ED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7E34466-D369-4235-BFF7-1552270B9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038350"/>
            <a:ext cx="8953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72033"/>
                </a:solidFill>
              </a:defRPr>
            </a:pPr>
            <a:r>
              <a:rPr sz="825" b="0">
                <a:solidFill>
                  <a:srgbClr val="172033"/>
                </a:solidFill>
              </a:rPr>
              <a:t>DRE-003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40D6EA9-9B98-4744-A741-3DD2C9FA6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038350"/>
            <a:ext cx="13716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72033"/>
                </a:solidFill>
              </a:defRPr>
            </a:pPr>
            <a:r>
              <a:rPr sz="825" b="0">
                <a:solidFill>
                  <a:srgbClr val="172033"/>
                </a:solidFill>
              </a:rPr>
              <a:t>Elbiseler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3A631D7-4F69-4B7E-A029-F512E4C8D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038350"/>
            <a:ext cx="8001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72033"/>
                </a:solidFill>
              </a:defRPr>
            </a:pPr>
            <a:r>
              <a:rPr sz="825" b="0">
                <a:solidFill>
                  <a:srgbClr val="172033"/>
                </a:solidFill>
              </a:rPr>
              <a:t>424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17C2C75-93F9-4801-AC10-1B9E75D64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2038350"/>
            <a:ext cx="10858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72033"/>
                </a:solidFill>
              </a:defRPr>
            </a:pPr>
            <a:r>
              <a:rPr sz="825" b="0">
                <a:solidFill>
                  <a:srgbClr val="172033"/>
                </a:solidFill>
              </a:rPr>
              <a:t>₺0.4M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04C4916-4760-48FF-9992-7AFAF37C4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419350"/>
            <a:ext cx="476250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B"/>
          </a:solidFill>
          <a:ln xmlns:a="http://schemas.openxmlformats.org/drawingml/2006/main" w="4763">
            <a:solidFill>
              <a:srgbClr val="DCE3ED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08D2781-E4B7-4BCA-A6CA-BC49BE7DC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486025"/>
            <a:ext cx="8953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72033"/>
                </a:solidFill>
              </a:defRPr>
            </a:pPr>
            <a:r>
              <a:rPr sz="825" b="0">
                <a:solidFill>
                  <a:srgbClr val="172033"/>
                </a:solidFill>
              </a:rPr>
              <a:t>DRE-002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AF9D044-896A-423B-B8EF-A50D38EC8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486025"/>
            <a:ext cx="13716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72033"/>
                </a:solidFill>
              </a:defRPr>
            </a:pPr>
            <a:r>
              <a:rPr sz="825" b="0">
                <a:solidFill>
                  <a:srgbClr val="172033"/>
                </a:solidFill>
              </a:rPr>
              <a:t>Elbiseler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E47BDB8-54DE-47FB-ACE7-37D802C73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486025"/>
            <a:ext cx="8001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72033"/>
                </a:solidFill>
              </a:defRPr>
            </a:pPr>
            <a:r>
              <a:rPr sz="825" b="0">
                <a:solidFill>
                  <a:srgbClr val="172033"/>
                </a:solidFill>
              </a:rPr>
              <a:t>336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13D39C2-1B63-400A-A881-C5D267F2F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2486025"/>
            <a:ext cx="10858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72033"/>
                </a:solidFill>
              </a:defRPr>
            </a:pPr>
            <a:r>
              <a:rPr sz="825" b="0">
                <a:solidFill>
                  <a:srgbClr val="172033"/>
                </a:solidFill>
              </a:rPr>
              <a:t>₺0.4M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40694AD-9ADF-4FB9-9879-84AB970FF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867025"/>
            <a:ext cx="476250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3">
            <a:solidFill>
              <a:srgbClr val="DCE3ED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41BA382-CBE9-4FEA-B860-BC4A58BC6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933700"/>
            <a:ext cx="8953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72033"/>
                </a:solidFill>
              </a:defRPr>
            </a:pPr>
            <a:r>
              <a:rPr sz="825" b="0">
                <a:solidFill>
                  <a:srgbClr val="172033"/>
                </a:solidFill>
              </a:rPr>
              <a:t>DRE-008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2B65C57-81B6-4D5A-B671-962B8D4DA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933700"/>
            <a:ext cx="13716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72033"/>
                </a:solidFill>
              </a:defRPr>
            </a:pPr>
            <a:r>
              <a:rPr sz="825" b="0">
                <a:solidFill>
                  <a:srgbClr val="172033"/>
                </a:solidFill>
              </a:rPr>
              <a:t>Elbiseler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22524D0-1068-49DB-8F04-57D5F065C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933700"/>
            <a:ext cx="8001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72033"/>
                </a:solidFill>
              </a:defRPr>
            </a:pPr>
            <a:r>
              <a:rPr sz="825" b="0">
                <a:solidFill>
                  <a:srgbClr val="172033"/>
                </a:solidFill>
              </a:rPr>
              <a:t>370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E400F58-8C0B-4B05-B090-399A0F0FD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2933700"/>
            <a:ext cx="10858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72033"/>
                </a:solidFill>
              </a:defRPr>
            </a:pPr>
            <a:r>
              <a:rPr sz="825" b="0">
                <a:solidFill>
                  <a:srgbClr val="172033"/>
                </a:solidFill>
              </a:rPr>
              <a:t>₺0.4M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9C0EF6B-563D-412B-BDF9-524E89D94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314700"/>
            <a:ext cx="476250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B"/>
          </a:solidFill>
          <a:ln xmlns:a="http://schemas.openxmlformats.org/drawingml/2006/main" w="4763">
            <a:solidFill>
              <a:srgbClr val="DCE3ED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A764B61-DBB9-4190-A47C-9F9BE4B44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381375"/>
            <a:ext cx="8953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72033"/>
                </a:solidFill>
              </a:defRPr>
            </a:pPr>
            <a:r>
              <a:rPr sz="825" b="0">
                <a:solidFill>
                  <a:srgbClr val="172033"/>
                </a:solidFill>
              </a:rPr>
              <a:t>BOT-004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443FD22-D32E-42A5-95BC-9847498CC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381375"/>
            <a:ext cx="13716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72033"/>
                </a:solidFill>
              </a:defRPr>
            </a:pPr>
            <a:r>
              <a:rPr sz="825" b="0">
                <a:solidFill>
                  <a:srgbClr val="172033"/>
                </a:solidFill>
              </a:rPr>
              <a:t>Alt Giyim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F00873D-03A8-42DA-BD8C-A62F80A30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3381375"/>
            <a:ext cx="8001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72033"/>
                </a:solidFill>
              </a:defRPr>
            </a:pPr>
            <a:r>
              <a:rPr sz="825" b="0">
                <a:solidFill>
                  <a:srgbClr val="172033"/>
                </a:solidFill>
              </a:rPr>
              <a:t>336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3CADFD3-AD4E-462E-813A-6ADF29C0C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3381375"/>
            <a:ext cx="10858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72033"/>
                </a:solidFill>
              </a:defRPr>
            </a:pPr>
            <a:r>
              <a:rPr sz="825" b="0">
                <a:solidFill>
                  <a:srgbClr val="172033"/>
                </a:solidFill>
              </a:rPr>
              <a:t>₺0.3M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EAF8FFC-EDA6-4BA0-9D6C-331216D29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762375"/>
            <a:ext cx="476250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3">
            <a:solidFill>
              <a:srgbClr val="DCE3ED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3432A69-A88F-4CA2-9F15-8EFD6A46A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829050"/>
            <a:ext cx="8953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72033"/>
                </a:solidFill>
              </a:defRPr>
            </a:pPr>
            <a:r>
              <a:rPr sz="825" b="0">
                <a:solidFill>
                  <a:srgbClr val="172033"/>
                </a:solidFill>
              </a:rPr>
              <a:t>OUT-009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CAEA2D9-4375-41D6-97D6-97EB5562A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829050"/>
            <a:ext cx="13716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72033"/>
                </a:solidFill>
              </a:defRPr>
            </a:pPr>
            <a:r>
              <a:rPr sz="825" b="0">
                <a:solidFill>
                  <a:srgbClr val="172033"/>
                </a:solidFill>
              </a:rPr>
              <a:t>Dış Giyim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0B4A0D4-C498-41FF-AB41-3B7091210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3829050"/>
            <a:ext cx="8001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72033"/>
                </a:solidFill>
              </a:defRPr>
            </a:pPr>
            <a:r>
              <a:rPr sz="825" b="0">
                <a:solidFill>
                  <a:srgbClr val="172033"/>
                </a:solidFill>
              </a:rPr>
              <a:t>232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F4C080F-1C32-4A29-A8FC-D3B5137EC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3829050"/>
            <a:ext cx="10858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72033"/>
                </a:solidFill>
              </a:defRPr>
            </a:pPr>
            <a:r>
              <a:rPr sz="825" b="0">
                <a:solidFill>
                  <a:srgbClr val="172033"/>
                </a:solidFill>
              </a:rPr>
              <a:t>₺0.3M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3376AC1-27FB-460F-92F8-D29D5D64D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210050"/>
            <a:ext cx="476250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B"/>
          </a:solidFill>
          <a:ln xmlns:a="http://schemas.openxmlformats.org/drawingml/2006/main" w="4763">
            <a:solidFill>
              <a:srgbClr val="DCE3ED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42E6271-4018-427C-A8EC-2851A5E53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276725"/>
            <a:ext cx="8953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72033"/>
                </a:solidFill>
              </a:defRPr>
            </a:pPr>
            <a:r>
              <a:rPr sz="825" b="0">
                <a:solidFill>
                  <a:srgbClr val="172033"/>
                </a:solidFill>
              </a:rPr>
              <a:t>TOP-005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9F45ECB-F000-407A-B236-3C634B7B6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276725"/>
            <a:ext cx="13716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72033"/>
                </a:solidFill>
              </a:defRPr>
            </a:pPr>
            <a:r>
              <a:rPr sz="825" b="0">
                <a:solidFill>
                  <a:srgbClr val="172033"/>
                </a:solidFill>
              </a:rPr>
              <a:t>Üst Giyim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6A31BE8-7DBF-49A5-88F0-4617CBECD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4276725"/>
            <a:ext cx="8001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72033"/>
                </a:solidFill>
              </a:defRPr>
            </a:pPr>
            <a:r>
              <a:rPr sz="825" b="0">
                <a:solidFill>
                  <a:srgbClr val="172033"/>
                </a:solidFill>
              </a:rPr>
              <a:t>444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0D1546D-1CCC-49F6-B5B5-EBDD4E0CB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4276725"/>
            <a:ext cx="10858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72033"/>
                </a:solidFill>
              </a:defRPr>
            </a:pPr>
            <a:r>
              <a:rPr sz="825" b="0">
                <a:solidFill>
                  <a:srgbClr val="172033"/>
                </a:solidFill>
              </a:rPr>
              <a:t>₺0.2M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484537CC-D61C-4BB2-BF0D-4C392FB16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657725"/>
            <a:ext cx="476250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3">
            <a:solidFill>
              <a:srgbClr val="DCE3ED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182B3CAF-2F03-4892-ADE4-8700BE304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724400"/>
            <a:ext cx="8953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72033"/>
                </a:solidFill>
              </a:defRPr>
            </a:pPr>
            <a:r>
              <a:rPr sz="825" b="0">
                <a:solidFill>
                  <a:srgbClr val="172033"/>
                </a:solidFill>
              </a:rPr>
              <a:t>KNI-008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70581C2E-3070-45CE-A8E0-83F051CA6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724400"/>
            <a:ext cx="13716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72033"/>
                </a:solidFill>
              </a:defRPr>
            </a:pPr>
            <a:r>
              <a:rPr sz="825" b="0">
                <a:solidFill>
                  <a:srgbClr val="172033"/>
                </a:solidFill>
              </a:rPr>
              <a:t>Triko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8DFC26A7-600F-4170-9412-D222CF5A5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4724400"/>
            <a:ext cx="8001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72033"/>
                </a:solidFill>
              </a:defRPr>
            </a:pPr>
            <a:r>
              <a:rPr sz="825" b="0">
                <a:solidFill>
                  <a:srgbClr val="172033"/>
                </a:solidFill>
              </a:rPr>
              <a:t>444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767D83F1-D50E-4214-B23C-4840443AB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4724400"/>
            <a:ext cx="10858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72033"/>
                </a:solidFill>
              </a:defRPr>
            </a:pPr>
            <a:r>
              <a:rPr sz="825" b="0">
                <a:solidFill>
                  <a:srgbClr val="172033"/>
                </a:solidFill>
              </a:rPr>
              <a:t>₺0.2M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AE536C00-0093-45FE-8B3F-B3F80B65B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5105400"/>
            <a:ext cx="476250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B"/>
          </a:solidFill>
          <a:ln xmlns:a="http://schemas.openxmlformats.org/drawingml/2006/main" w="4763">
            <a:solidFill>
              <a:srgbClr val="DCE3ED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FFEB2CE2-2352-4EE5-9B8E-F22F10993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5172075"/>
            <a:ext cx="8953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72033"/>
                </a:solidFill>
              </a:defRPr>
            </a:pPr>
            <a:r>
              <a:rPr sz="825" b="0">
                <a:solidFill>
                  <a:srgbClr val="172033"/>
                </a:solidFill>
              </a:rPr>
              <a:t>KNI-009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AAD5B9F0-C446-4B01-A3A3-05CEB8B0E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5172075"/>
            <a:ext cx="13716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72033"/>
                </a:solidFill>
              </a:defRPr>
            </a:pPr>
            <a:r>
              <a:rPr sz="825" b="0">
                <a:solidFill>
                  <a:srgbClr val="172033"/>
                </a:solidFill>
              </a:rPr>
              <a:t>Triko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6E2C5915-ACA3-4516-854A-A07AA07AC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5172075"/>
            <a:ext cx="8001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72033"/>
                </a:solidFill>
              </a:defRPr>
            </a:pPr>
            <a:r>
              <a:rPr sz="825" b="0">
                <a:solidFill>
                  <a:srgbClr val="172033"/>
                </a:solidFill>
              </a:rPr>
              <a:t>336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7098E0CB-DC0F-4D00-9CF6-AFF7BEF7E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5172075"/>
            <a:ext cx="10858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72033"/>
                </a:solidFill>
              </a:defRPr>
            </a:pPr>
            <a:r>
              <a:rPr sz="825" b="0">
                <a:solidFill>
                  <a:srgbClr val="172033"/>
                </a:solidFill>
              </a:rPr>
              <a:t>₺0.1M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3B51B293-810C-4DC4-BDF3-94D2F3CAE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38900"/>
            <a:ext cx="590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67085"/>
                </a:solidFill>
              </a:defRPr>
            </a:pPr>
            <a:r>
              <a:rPr sz="675" b="0">
                <a:solidFill>
                  <a:srgbClr val="667085"/>
                </a:solidFill>
              </a:rPr>
              <a:t>MonacoLuxe ilhamlı sentetik portföy verisi | TRY | 2023-2026</a:t>
            </a:r>
          </a:p>
        </p:txBody>
      </p:sp>
    </p:spTree>
    <p:extLst>
      <p:ext uri="{BB962C8B-B14F-4D97-AF65-F5344CB8AC3E}">
        <p14:creationId xmlns:p14="http://schemas.microsoft.com/office/powerpoint/2010/main" val="2020432226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">
            <a:extLst xmlns:a="http://schemas.openxmlformats.org/drawingml/2006/main">
              <a:ext uri="{FF2B5EF4-FFF2-40B4-BE49-F238E27FC236}">
                <a16:creationId xmlns:a16="http://schemas.microsoft.com/office/drawing/2014/main" id="{1E7BF356-CEBA-4C91-93FA-ED477896A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76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D8DFF"/>
                </a:solidFill>
              </a:defRPr>
            </a:pPr>
            <a:r>
              <a:rPr sz="900" b="1">
                <a:solidFill>
                  <a:srgbClr val="3D8DFF"/>
                </a:solidFill>
              </a:rPr>
              <a:t>E-COMMERCE DEMAND &amp; INVENTORY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4EA402DB-1EA8-46E0-9C7A-B379C9018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3875"/>
            <a:ext cx="7810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32B"/>
                </a:solidFill>
              </a:defRPr>
            </a:pPr>
            <a:r>
              <a:rPr sz="2550" b="1">
                <a:solidFill>
                  <a:srgbClr val="0B132B"/>
                </a:solidFill>
              </a:rPr>
              <a:t>Tedarikçi Performansı</a:t>
            </a:r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28D7F950-6DAA-43BB-8F33-DEBEEC814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590550"/>
            <a:ext cx="3476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67085"/>
                </a:solidFill>
              </a:defRPr>
            </a:pPr>
            <a:r>
              <a:rPr sz="975" b="0">
                <a:solidFill>
                  <a:srgbClr val="667085"/>
                </a:solidFill>
              </a:rPr>
              <a:t>Teslimat güvenilirliği ve satın alma maruziyeti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216561-F691-42A7-87C8-3C0BCF82B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66800"/>
            <a:ext cx="11391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CDD534-151F-4C54-8359-9C3846642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3890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67085"/>
                </a:solidFill>
              </a:defRPr>
            </a:pPr>
            <a:r>
              <a:rPr sz="825" b="1">
                <a:solidFill>
                  <a:srgbClr val="667085"/>
                </a:solidFill>
              </a:rPr>
              <a:t>16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67B412-9A60-40F1-8978-E28AF9EAC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28750"/>
            <a:ext cx="6191250" cy="4476750"/>
          </a:xfrm>
          <a:prstGeom xmlns:a="http://schemas.openxmlformats.org/drawingml/2006/main" prst="roundRect">
            <a:avLst>
              <a:gd name="adj" fmla="val 25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610E68-D868-42D6-93EA-6A8CB9863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0200"/>
            <a:ext cx="5772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B132B"/>
                </a:solidFill>
              </a:defRPr>
            </a:pPr>
            <a:r>
              <a:rPr sz="1125" b="1">
                <a:solidFill>
                  <a:srgbClr val="0B132B"/>
                </a:solidFill>
              </a:rPr>
              <a:t>Tedarikçi Satın Alma Değeri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5E8F0BC-550A-4527-8DD7-7E381FB9F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05000"/>
            <a:ext cx="5772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3ED"/>
          </a:solidFill>
          <a:ln xmlns:a="http://schemas.openxmlformats.org/drawingml/2006/main" w="0">
            <a:solidFill>
              <a:srgbClr val="DCE3ED"/>
            </a:solidFill>
            <a:prstDash val="solid"/>
          </a:ln>
        </p:spPr>
      </p:sp>
      <p:graphicFrame>
        <p:nvGraphicFramePr>
          <p:cNvPr id="64" name="Chart"/>
          <p:cNvGraphicFramePr/>
          <p:nvPr/>
        </p:nvGraphicFramePr>
        <p:xfrm>
          <a:off xmlns:a="http://schemas.openxmlformats.org/drawingml/2006/main" x="609600" y="2076450"/>
          <a:ext xmlns:a="http://schemas.openxmlformats.org/drawingml/2006/main" cx="5772150" cy="3333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92e2b6da93b4742"/>
          </a:graphicData>
        </a:graphic>
      </p:graphicFrame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1BE9A30-9E95-46C5-BE76-CD7C6A817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524000"/>
            <a:ext cx="476250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13D"/>
          </a:solidFill>
          <a:ln xmlns:a="http://schemas.openxmlformats.org/drawingml/2006/main" w="0">
            <a:solidFill>
              <a:srgbClr val="14213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2F0A22E-104E-4F92-9A39-4AA349346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1590675"/>
            <a:ext cx="8953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Tedarikçi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D43CFC4-9584-4BC6-B6A5-C47DAE758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1590675"/>
            <a:ext cx="8953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Sipariş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AD53DB0-2C4B-400C-9BCC-C48C35045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1590675"/>
            <a:ext cx="11334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Termin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AE4D9B9-1B04-462A-8A27-37BB61603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15575" y="1590675"/>
            <a:ext cx="12287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Zamanında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08DBAE8-1B34-470F-9D52-AA0927EF0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971675"/>
            <a:ext cx="476250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3">
            <a:solidFill>
              <a:srgbClr val="DCE3ED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9A7FCD2-17B7-47EB-A5EA-7F15CCFD2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038350"/>
            <a:ext cx="8953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72033"/>
                </a:solidFill>
              </a:defRPr>
            </a:pPr>
            <a:r>
              <a:rPr sz="825" b="0">
                <a:solidFill>
                  <a:srgbClr val="172033"/>
                </a:solidFill>
              </a:rPr>
              <a:t>SUP-001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A710DB8-1D06-4F80-ACD3-30293765C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038350"/>
            <a:ext cx="8953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72033"/>
                </a:solidFill>
              </a:defRPr>
            </a:pPr>
            <a:r>
              <a:rPr sz="825" b="0">
                <a:solidFill>
                  <a:srgbClr val="172033"/>
                </a:solidFill>
              </a:rPr>
              <a:t>158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A118A60-675F-4553-8D5C-DF2369EC3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038350"/>
            <a:ext cx="11334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72033"/>
                </a:solidFill>
              </a:defRPr>
            </a:pPr>
            <a:r>
              <a:rPr sz="825" b="0">
                <a:solidFill>
                  <a:srgbClr val="172033"/>
                </a:solidFill>
              </a:rPr>
              <a:t>13.7 gün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AA5C424-5E6F-4B34-8CEE-46EC15729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15575" y="2038350"/>
            <a:ext cx="12287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72033"/>
                </a:solidFill>
              </a:defRPr>
            </a:pPr>
            <a:r>
              <a:rPr sz="825" b="0">
                <a:solidFill>
                  <a:srgbClr val="172033"/>
                </a:solidFill>
              </a:rPr>
              <a:t>8.2%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8487049-23B2-4CE3-8601-E97639E51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419350"/>
            <a:ext cx="476250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B"/>
          </a:solidFill>
          <a:ln xmlns:a="http://schemas.openxmlformats.org/drawingml/2006/main" w="4763">
            <a:solidFill>
              <a:srgbClr val="DCE3ED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BE84B30-2168-421B-BB07-36FE108D9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486025"/>
            <a:ext cx="8953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72033"/>
                </a:solidFill>
              </a:defRPr>
            </a:pPr>
            <a:r>
              <a:rPr sz="825" b="0">
                <a:solidFill>
                  <a:srgbClr val="172033"/>
                </a:solidFill>
              </a:rPr>
              <a:t>SUP-007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4307BFA-BF30-4549-97D3-0CDEA4615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486025"/>
            <a:ext cx="8953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72033"/>
                </a:solidFill>
              </a:defRPr>
            </a:pPr>
            <a:r>
              <a:rPr sz="825" b="0">
                <a:solidFill>
                  <a:srgbClr val="172033"/>
                </a:solidFill>
              </a:rPr>
              <a:t>175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13291FA-8585-4CA2-AF1A-48361F87E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486025"/>
            <a:ext cx="11334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72033"/>
                </a:solidFill>
              </a:defRPr>
            </a:pPr>
            <a:r>
              <a:rPr sz="825" b="0">
                <a:solidFill>
                  <a:srgbClr val="172033"/>
                </a:solidFill>
              </a:rPr>
              <a:t>27.6 gün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A3D4610-EE75-4591-94F6-647DD285C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15575" y="2486025"/>
            <a:ext cx="12287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72033"/>
                </a:solidFill>
              </a:defRPr>
            </a:pPr>
            <a:r>
              <a:rPr sz="825" b="0">
                <a:solidFill>
                  <a:srgbClr val="172033"/>
                </a:solidFill>
              </a:rPr>
              <a:t>92.6%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43BF5BC-451E-4564-8157-3D8293BFB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867025"/>
            <a:ext cx="476250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3">
            <a:solidFill>
              <a:srgbClr val="DCE3ED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0904854-4E23-4A25-B3F5-CE8671C54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933700"/>
            <a:ext cx="8953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72033"/>
                </a:solidFill>
              </a:defRPr>
            </a:pPr>
            <a:r>
              <a:rPr sz="825" b="0">
                <a:solidFill>
                  <a:srgbClr val="172033"/>
                </a:solidFill>
              </a:rPr>
              <a:t>SUP-005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308A123-E95F-417A-9710-EC3194108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933700"/>
            <a:ext cx="8953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72033"/>
                </a:solidFill>
              </a:defRPr>
            </a:pPr>
            <a:r>
              <a:rPr sz="825" b="0">
                <a:solidFill>
                  <a:srgbClr val="172033"/>
                </a:solidFill>
              </a:rPr>
              <a:t>176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B091A93-F76D-4B5A-A970-14AB65E2B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933700"/>
            <a:ext cx="11334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72033"/>
                </a:solidFill>
              </a:defRPr>
            </a:pPr>
            <a:r>
              <a:rPr sz="825" b="0">
                <a:solidFill>
                  <a:srgbClr val="172033"/>
                </a:solidFill>
              </a:rPr>
              <a:t>33.9 gün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FB6AEBD-3A35-4951-B9F6-EE8016A27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15575" y="2933700"/>
            <a:ext cx="12287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72033"/>
                </a:solidFill>
              </a:defRPr>
            </a:pPr>
            <a:r>
              <a:rPr sz="825" b="0">
                <a:solidFill>
                  <a:srgbClr val="172033"/>
                </a:solidFill>
              </a:rPr>
              <a:t>96.0%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9D9302E-02BF-4D33-A588-87E56F79A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314700"/>
            <a:ext cx="476250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B"/>
          </a:solidFill>
          <a:ln xmlns:a="http://schemas.openxmlformats.org/drawingml/2006/main" w="4763">
            <a:solidFill>
              <a:srgbClr val="DCE3ED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2BA9E12-696B-440C-A5AE-A7A5D033C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381375"/>
            <a:ext cx="8953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72033"/>
                </a:solidFill>
              </a:defRPr>
            </a:pPr>
            <a:r>
              <a:rPr sz="825" b="0">
                <a:solidFill>
                  <a:srgbClr val="172033"/>
                </a:solidFill>
              </a:rPr>
              <a:t>SUP-006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D53E53F-CBF3-4CF9-8A43-13DF68F1F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381375"/>
            <a:ext cx="8953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72033"/>
                </a:solidFill>
              </a:defRPr>
            </a:pPr>
            <a:r>
              <a:rPr sz="825" b="0">
                <a:solidFill>
                  <a:srgbClr val="172033"/>
                </a:solidFill>
              </a:rPr>
              <a:t>175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85C7133-381A-44E4-9101-B69927954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381375"/>
            <a:ext cx="11334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72033"/>
                </a:solidFill>
              </a:defRPr>
            </a:pPr>
            <a:r>
              <a:rPr sz="825" b="0">
                <a:solidFill>
                  <a:srgbClr val="172033"/>
                </a:solidFill>
              </a:rPr>
              <a:t>20.4 gün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E2AB856-B171-4F3D-A230-A38BF4019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15575" y="3381375"/>
            <a:ext cx="12287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72033"/>
                </a:solidFill>
              </a:defRPr>
            </a:pPr>
            <a:r>
              <a:rPr sz="825" b="0">
                <a:solidFill>
                  <a:srgbClr val="172033"/>
                </a:solidFill>
              </a:rPr>
              <a:t>96.6%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C422350-98A6-4FF3-8D45-EFA806835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762375"/>
            <a:ext cx="476250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3">
            <a:solidFill>
              <a:srgbClr val="DCE3ED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1544F79-1B0F-4710-9468-1B05E4963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829050"/>
            <a:ext cx="8953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72033"/>
                </a:solidFill>
              </a:defRPr>
            </a:pPr>
            <a:r>
              <a:rPr sz="825" b="0">
                <a:solidFill>
                  <a:srgbClr val="172033"/>
                </a:solidFill>
              </a:rPr>
              <a:t>SUP-002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5DB7D22-62A5-4177-B13F-2A2C67DE9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829050"/>
            <a:ext cx="8953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72033"/>
                </a:solidFill>
              </a:defRPr>
            </a:pPr>
            <a:r>
              <a:rPr sz="825" b="0">
                <a:solidFill>
                  <a:srgbClr val="172033"/>
                </a:solidFill>
              </a:rPr>
              <a:t>157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392CFD2-1600-4C56-AE0F-3462266E9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829050"/>
            <a:ext cx="11334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72033"/>
                </a:solidFill>
              </a:defRPr>
            </a:pPr>
            <a:r>
              <a:rPr sz="825" b="0">
                <a:solidFill>
                  <a:srgbClr val="172033"/>
                </a:solidFill>
              </a:rPr>
              <a:t>20.6 gün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49E96FB-3BB6-4B57-A69D-5F623D254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15575" y="3829050"/>
            <a:ext cx="12287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72033"/>
                </a:solidFill>
              </a:defRPr>
            </a:pPr>
            <a:r>
              <a:rPr sz="825" b="0">
                <a:solidFill>
                  <a:srgbClr val="172033"/>
                </a:solidFill>
              </a:rPr>
              <a:t>96.2%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14DA911-D94D-4815-9C8C-ADED6F42D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210050"/>
            <a:ext cx="476250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B"/>
          </a:solidFill>
          <a:ln xmlns:a="http://schemas.openxmlformats.org/drawingml/2006/main" w="4763">
            <a:solidFill>
              <a:srgbClr val="DCE3ED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3EDB2CC-F0C2-4FBC-A444-70C9FEAFB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276725"/>
            <a:ext cx="8953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72033"/>
                </a:solidFill>
              </a:defRPr>
            </a:pPr>
            <a:r>
              <a:rPr sz="825" b="0">
                <a:solidFill>
                  <a:srgbClr val="172033"/>
                </a:solidFill>
              </a:rPr>
              <a:t>SUP-003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4B8A981-E3A6-48D2-93FD-1B1B345F8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276725"/>
            <a:ext cx="8953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72033"/>
                </a:solidFill>
              </a:defRPr>
            </a:pPr>
            <a:r>
              <a:rPr sz="825" b="0">
                <a:solidFill>
                  <a:srgbClr val="172033"/>
                </a:solidFill>
              </a:rPr>
              <a:t>155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76EABE5-1E17-4EEF-AF0C-3C4CF98CC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4276725"/>
            <a:ext cx="11334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72033"/>
                </a:solidFill>
              </a:defRPr>
            </a:pPr>
            <a:r>
              <a:rPr sz="825" b="0">
                <a:solidFill>
                  <a:srgbClr val="172033"/>
                </a:solidFill>
              </a:rPr>
              <a:t>13.5 gün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1BAD86E4-7C97-4C4D-B690-C2674CEA8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15575" y="4276725"/>
            <a:ext cx="12287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72033"/>
                </a:solidFill>
              </a:defRPr>
            </a:pPr>
            <a:r>
              <a:rPr sz="825" b="0">
                <a:solidFill>
                  <a:srgbClr val="172033"/>
                </a:solidFill>
              </a:rPr>
              <a:t>98.7%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8E463D16-B61E-40A1-84C2-66365F33C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657725"/>
            <a:ext cx="476250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3">
            <a:solidFill>
              <a:srgbClr val="DCE3ED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2E1761F7-BD5E-4883-8EB1-3FBB8C921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724400"/>
            <a:ext cx="8953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72033"/>
                </a:solidFill>
              </a:defRPr>
            </a:pPr>
            <a:r>
              <a:rPr sz="825" b="0">
                <a:solidFill>
                  <a:srgbClr val="172033"/>
                </a:solidFill>
              </a:rPr>
              <a:t>SUP-004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C5D1F280-EBD0-4DBF-BB64-E414A6395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724400"/>
            <a:ext cx="8953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72033"/>
                </a:solidFill>
              </a:defRPr>
            </a:pPr>
            <a:r>
              <a:rPr sz="825" b="0">
                <a:solidFill>
                  <a:srgbClr val="172033"/>
                </a:solidFill>
              </a:rPr>
              <a:t>125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BB282230-4ED7-4350-BC01-24A00FA23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4724400"/>
            <a:ext cx="11334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72033"/>
                </a:solidFill>
              </a:defRPr>
            </a:pPr>
            <a:r>
              <a:rPr sz="825" b="0">
                <a:solidFill>
                  <a:srgbClr val="172033"/>
                </a:solidFill>
              </a:rPr>
              <a:t>7.0 gün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65D8B348-04EA-46FA-A39A-A895C8680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15575" y="4724400"/>
            <a:ext cx="12287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72033"/>
                </a:solidFill>
              </a:defRPr>
            </a:pPr>
            <a:r>
              <a:rPr sz="825" b="0">
                <a:solidFill>
                  <a:srgbClr val="172033"/>
                </a:solidFill>
              </a:rPr>
              <a:t>96.0%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EDD3B76C-725A-4165-A627-5FE2FB6CF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5105400"/>
            <a:ext cx="476250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B"/>
          </a:solidFill>
          <a:ln xmlns:a="http://schemas.openxmlformats.org/drawingml/2006/main" w="4763">
            <a:solidFill>
              <a:srgbClr val="DCE3ED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95A7F0E6-06BE-4113-8463-08420ED4F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5172075"/>
            <a:ext cx="8953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72033"/>
                </a:solidFill>
              </a:defRPr>
            </a:pPr>
            <a:r>
              <a:rPr sz="825" b="0">
                <a:solidFill>
                  <a:srgbClr val="172033"/>
                </a:solidFill>
              </a:rPr>
              <a:t>SUP-008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DBB433AD-6F95-4252-ABEA-8636B9502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5172075"/>
            <a:ext cx="8953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72033"/>
                </a:solidFill>
              </a:defRPr>
            </a:pPr>
            <a:r>
              <a:rPr sz="825" b="0">
                <a:solidFill>
                  <a:srgbClr val="172033"/>
                </a:solidFill>
              </a:rPr>
              <a:t>87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E45C2019-C5EC-4483-AA2A-9C4060F5E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5172075"/>
            <a:ext cx="11334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72033"/>
                </a:solidFill>
              </a:defRPr>
            </a:pPr>
            <a:r>
              <a:rPr sz="825" b="0">
                <a:solidFill>
                  <a:srgbClr val="172033"/>
                </a:solidFill>
              </a:rPr>
              <a:t>7.1 gün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F4827553-B830-486B-B390-DA68744B2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15575" y="5172075"/>
            <a:ext cx="12287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72033"/>
                </a:solidFill>
              </a:defRPr>
            </a:pPr>
            <a:r>
              <a:rPr sz="825" b="0">
                <a:solidFill>
                  <a:srgbClr val="172033"/>
                </a:solidFill>
              </a:rPr>
              <a:t>92.0%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DB36F4F6-7275-47C8-BD4C-C0C4C8069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38900"/>
            <a:ext cx="590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67085"/>
                </a:solidFill>
              </a:defRPr>
            </a:pPr>
            <a:r>
              <a:rPr sz="675" b="0">
                <a:solidFill>
                  <a:srgbClr val="667085"/>
                </a:solidFill>
              </a:rPr>
              <a:t>MonacoLuxe ilhamlı sentetik portföy verisi | TRY | 2023-2026</a:t>
            </a:r>
          </a:p>
        </p:txBody>
      </p:sp>
    </p:spTree>
    <p:extLst>
      <p:ext uri="{BB962C8B-B14F-4D97-AF65-F5344CB8AC3E}">
        <p14:creationId xmlns:p14="http://schemas.microsoft.com/office/powerpoint/2010/main" val="82715844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">
            <a:extLst xmlns:a="http://schemas.openxmlformats.org/drawingml/2006/main">
              <a:ext uri="{FF2B5EF4-FFF2-40B4-BE49-F238E27FC236}">
                <a16:creationId xmlns:a16="http://schemas.microsoft.com/office/drawing/2014/main" id="{CB5F487A-4322-4E22-BA1B-E102DC219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76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D8DFF"/>
                </a:solidFill>
              </a:defRPr>
            </a:pPr>
            <a:r>
              <a:rPr sz="900" b="1">
                <a:solidFill>
                  <a:srgbClr val="3D8DFF"/>
                </a:solidFill>
              </a:rPr>
              <a:t>E-COMMERCE DEMAND &amp; INVENTORY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3759A0BB-B6C9-4CF8-BF13-706B550C9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3875"/>
            <a:ext cx="7810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32B"/>
                </a:solidFill>
              </a:defRPr>
            </a:pPr>
            <a:r>
              <a:rPr sz="2550" b="1">
                <a:solidFill>
                  <a:srgbClr val="0B132B"/>
                </a:solidFill>
              </a:rPr>
              <a:t>Senaryo Analizi</a:t>
            </a:r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6984A7DF-84FB-4395-91DF-08F5F0A95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590550"/>
            <a:ext cx="3476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67085"/>
                </a:solidFill>
              </a:defRPr>
            </a:pPr>
            <a:r>
              <a:rPr sz="975" b="0">
                <a:solidFill>
                  <a:srgbClr val="667085"/>
                </a:solidFill>
              </a:rPr>
              <a:t>Dört planlama vakasında sermaye ve hizmet dengesi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AA73B0-3B01-4563-A8D4-BA4C51965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66800"/>
            <a:ext cx="11391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F2E200-49FB-4624-987A-624139ADD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3890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67085"/>
                </a:solidFill>
              </a:defRPr>
            </a:pPr>
            <a:r>
              <a:rPr sz="825" b="1">
                <a:solidFill>
                  <a:srgbClr val="667085"/>
                </a:solidFill>
              </a:rPr>
              <a:t>17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E4929E-E948-4C8B-A043-44B0647D1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28750"/>
            <a:ext cx="7239000" cy="4476750"/>
          </a:xfrm>
          <a:prstGeom xmlns:a="http://schemas.openxmlformats.org/drawingml/2006/main" prst="roundRect">
            <a:avLst>
              <a:gd name="adj" fmla="val 25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81A24E1-E624-4EE7-88EC-949D0005D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0200"/>
            <a:ext cx="6819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B132B"/>
                </a:solidFill>
              </a:defRPr>
            </a:pPr>
            <a:r>
              <a:rPr sz="1125" b="1">
                <a:solidFill>
                  <a:srgbClr val="0B132B"/>
                </a:solidFill>
              </a:rPr>
              <a:t>Senaryoya Göre Ciro ve Stok Yatırımı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3EF8D03-761E-4CF3-84C7-CBFF2CEB3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05000"/>
            <a:ext cx="6819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3ED"/>
          </a:solidFill>
          <a:ln xmlns:a="http://schemas.openxmlformats.org/drawingml/2006/main" w="0">
            <a:solidFill>
              <a:srgbClr val="DCE3ED"/>
            </a:solidFill>
            <a:prstDash val="solid"/>
          </a:ln>
        </p:spPr>
      </p:sp>
      <p:graphicFrame>
        <p:nvGraphicFramePr>
          <p:cNvPr id="32" name="Chart"/>
          <p:cNvGraphicFramePr/>
          <p:nvPr/>
        </p:nvGraphicFramePr>
        <p:xfrm>
          <a:off xmlns:a="http://schemas.openxmlformats.org/drawingml/2006/main" x="609600" y="2076450"/>
          <a:ext xmlns:a="http://schemas.openxmlformats.org/drawingml/2006/main" cx="6819900" cy="3333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ebc0c4427a8345aa"/>
          </a:graphicData>
        </a:graphic>
      </p:graphicFrame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F919360-4BE6-4E6E-8F02-1E0B7FC4D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428750"/>
            <a:ext cx="3886200" cy="1381125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8738C96-8480-40F9-BE02-A0D59FFA9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428750"/>
            <a:ext cx="388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F94C74B-81A7-4D7B-ABBA-89446F44F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657350"/>
            <a:ext cx="3505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67085"/>
                </a:solidFill>
              </a:defRPr>
            </a:pPr>
            <a:r>
              <a:rPr sz="900" b="1">
                <a:solidFill>
                  <a:srgbClr val="667085"/>
                </a:solidFill>
              </a:rPr>
              <a:t>BAZ YATIRIM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8635D7F-356B-4883-A72C-D49148608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962150"/>
            <a:ext cx="3505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3D8DFF"/>
                </a:solidFill>
              </a:defRPr>
            </a:pPr>
            <a:r>
              <a:rPr sz="2100" b="1">
                <a:solidFill>
                  <a:srgbClr val="3D8DFF"/>
                </a:solidFill>
              </a:rPr>
              <a:t>₺5.3M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92D2D63-7E2D-4757-873F-B346EFD07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476500"/>
            <a:ext cx="3505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10 SKU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8AB5713-E499-4B7B-9A22-A39D8C245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143250"/>
            <a:ext cx="388620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E8F7EE"/>
          </a:solidFill>
          <a:ln xmlns:a="http://schemas.openxmlformats.org/drawingml/2006/main" w="9525">
            <a:solidFill>
              <a:srgbClr val="18A55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0CF16E0-0560-4D40-9101-5D209CD21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143250"/>
            <a:ext cx="571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A558"/>
          </a:solidFill>
          <a:ln xmlns:a="http://schemas.openxmlformats.org/drawingml/2006/main" w="0">
            <a:solidFill>
              <a:srgbClr val="18A55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FDBEC14-D447-422D-9C1F-64A606150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314700"/>
            <a:ext cx="352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8A558"/>
                </a:solidFill>
              </a:defRPr>
            </a:pPr>
            <a:r>
              <a:rPr sz="1200" b="1">
                <a:solidFill>
                  <a:srgbClr val="18A558"/>
                </a:solidFill>
              </a:rPr>
              <a:t>Büyüme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D3B3BA5-3BA7-4D3A-95FC-BBC6A8DEA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638550"/>
            <a:ext cx="3524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2033"/>
                </a:solidFill>
              </a:defRPr>
            </a:pPr>
            <a:r>
              <a:rPr sz="1050" b="0">
                <a:solidFill>
                  <a:srgbClr val="172033"/>
                </a:solidFill>
              </a:rPr>
              <a:t>₺457.5M ciro; ₺8.2M yatırım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11C6870-DFF1-45BA-A9CD-427787392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552950"/>
            <a:ext cx="3886200" cy="1352550"/>
          </a:xfrm>
          <a:prstGeom xmlns:a="http://schemas.openxmlformats.org/drawingml/2006/main" prst="roundRect">
            <a:avLst>
              <a:gd name="adj" fmla="val 8451"/>
            </a:avLst>
          </a:prstGeom>
          <a:solidFill xmlns:a="http://schemas.openxmlformats.org/drawingml/2006/main">
            <a:srgbClr val="FDECEC"/>
          </a:solidFill>
          <a:ln xmlns:a="http://schemas.openxmlformats.org/drawingml/2006/main" w="9525">
            <a:solidFill>
              <a:srgbClr val="D6454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28FB10F-3FE7-4117-A57D-7B96F0055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552950"/>
            <a:ext cx="5715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4545"/>
          </a:solidFill>
          <a:ln xmlns:a="http://schemas.openxmlformats.org/drawingml/2006/main" w="0">
            <a:solidFill>
              <a:srgbClr val="D6454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4199E3E-A713-4B6E-959E-10D9B5771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724400"/>
            <a:ext cx="352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D64545"/>
                </a:solidFill>
              </a:defRPr>
            </a:pPr>
            <a:r>
              <a:rPr sz="1200" b="1">
                <a:solidFill>
                  <a:srgbClr val="D64545"/>
                </a:solidFill>
              </a:rPr>
              <a:t>Dayanıklılık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9B197F7-DC4A-4E9A-A585-CD5AE1EF3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048250"/>
            <a:ext cx="3524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2033"/>
                </a:solidFill>
              </a:defRPr>
            </a:pPr>
            <a:r>
              <a:rPr sz="1050" b="0">
                <a:solidFill>
                  <a:srgbClr val="172033"/>
                </a:solidFill>
              </a:rPr>
              <a:t>14 günlük termin şoku yatırımı ₺13.5M seviyesine çıkarır.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CD43795-075B-4EB8-BEE7-49321DFFD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38900"/>
            <a:ext cx="590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67085"/>
                </a:solidFill>
              </a:defRPr>
            </a:pPr>
            <a:r>
              <a:rPr sz="675" b="0">
                <a:solidFill>
                  <a:srgbClr val="667085"/>
                </a:solidFill>
              </a:rPr>
              <a:t>MonacoLuxe ilhamlı sentetik portföy verisi | TRY | 2023-2026</a:t>
            </a:r>
          </a:p>
        </p:txBody>
      </p:sp>
    </p:spTree>
    <p:extLst>
      <p:ext uri="{BB962C8B-B14F-4D97-AF65-F5344CB8AC3E}">
        <p14:creationId xmlns:p14="http://schemas.microsoft.com/office/powerpoint/2010/main" val="976982412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">
            <a:extLst xmlns:a="http://schemas.openxmlformats.org/drawingml/2006/main">
              <a:ext uri="{FF2B5EF4-FFF2-40B4-BE49-F238E27FC236}">
                <a16:creationId xmlns:a16="http://schemas.microsoft.com/office/drawing/2014/main" id="{C9CE061E-F90D-4124-9CEA-4E15F4ED3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76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D8DFF"/>
                </a:solidFill>
              </a:defRPr>
            </a:pPr>
            <a:r>
              <a:rPr sz="900" b="1">
                <a:solidFill>
                  <a:srgbClr val="3D8DFF"/>
                </a:solidFill>
              </a:rPr>
              <a:t>E-COMMERCE DEMAND &amp; INVENTORY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65FEBD94-64F2-48D1-81C0-A409C5E2B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3875"/>
            <a:ext cx="7810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32B"/>
                </a:solidFill>
              </a:defRPr>
            </a:pPr>
            <a:r>
              <a:rPr sz="2550" b="1">
                <a:solidFill>
                  <a:srgbClr val="0B132B"/>
                </a:solidFill>
              </a:rPr>
              <a:t>BI Teslimat Katmanı</a:t>
            </a:r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2860E176-C2AF-48A8-81F9-426D1449A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590550"/>
            <a:ext cx="3476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67085"/>
                </a:solidFill>
              </a:defRPr>
            </a:pPr>
            <a:r>
              <a:rPr sz="975" b="0">
                <a:solidFill>
                  <a:srgbClr val="667085"/>
                </a:solidFill>
              </a:rPr>
              <a:t>Power BI, Excel, SQL, PDF ve PowerPoint üzerinden karar desteği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1490A3D-E18A-4946-8F0A-3EC4F2979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66800"/>
            <a:ext cx="11391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1F4AC6-54AB-4D09-9330-3AF73E3EA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3890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67085"/>
                </a:solidFill>
              </a:defRPr>
            </a:pPr>
            <a:r>
              <a:rPr sz="825" b="1">
                <a:solidFill>
                  <a:srgbClr val="667085"/>
                </a:solidFill>
              </a:rPr>
              <a:t>18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552F79-D2AB-4CE3-AFBC-0446F3888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14500"/>
            <a:ext cx="2647950" cy="3143250"/>
          </a:xfrm>
          <a:prstGeom xmlns:a="http://schemas.openxmlformats.org/drawingml/2006/main" prst="roundRect">
            <a:avLst>
              <a:gd name="adj" fmla="val 4317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93CC758-282C-40DF-AB05-A3B35F7F6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000250"/>
            <a:ext cx="57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</a:defRPr>
            </a:pPr>
            <a:r>
              <a:rPr sz="1350" b="1">
                <a:solidFill>
                  <a:srgbClr val="3D8DFF"/>
                </a:solidFill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57AB50F-16F0-4E9F-B2B4-708D24B4F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590800"/>
            <a:ext cx="2190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32B"/>
                </a:solidFill>
              </a:defRPr>
            </a:pPr>
            <a:r>
              <a:rPr sz="1800" b="1">
                <a:solidFill>
                  <a:srgbClr val="0B132B"/>
                </a:solidFill>
              </a:rPr>
              <a:t>Power BI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0C4F4FB-C475-43A5-8472-90BF8DF30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333750"/>
            <a:ext cx="21907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33"/>
                </a:solidFill>
              </a:defRPr>
            </a:pPr>
            <a:r>
              <a:rPr sz="1200" b="0">
                <a:solidFill>
                  <a:srgbClr val="172033"/>
                </a:solidFill>
              </a:rPr>
              <a:t>10 sayfa • 81 görsel • gömülü veri modeli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3835BDF-49A3-448A-9B2D-27D584CC6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1714500"/>
            <a:ext cx="2647950" cy="3143250"/>
          </a:xfrm>
          <a:prstGeom xmlns:a="http://schemas.openxmlformats.org/drawingml/2006/main" prst="roundRect">
            <a:avLst>
              <a:gd name="adj" fmla="val 4317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DCE3E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6A3C695-98D1-4FDE-B73F-D58E28BED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000250"/>
            <a:ext cx="57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7C3AED"/>
                </a:solidFill>
              </a:defRPr>
            </a:pPr>
            <a:r>
              <a:rPr sz="1350" b="1">
                <a:solidFill>
                  <a:srgbClr val="7C3AED"/>
                </a:solidFill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4D79243-3CAC-48C8-BF7C-8A252D8BC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590800"/>
            <a:ext cx="2190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32B"/>
                </a:solidFill>
              </a:defRPr>
            </a:pPr>
            <a:r>
              <a:rPr sz="1800" b="1">
                <a:solidFill>
                  <a:srgbClr val="0B132B"/>
                </a:solidFill>
              </a:rPr>
              <a:t>Excel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D42A436-B0A3-4C00-B06A-D6F1B459E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3333750"/>
            <a:ext cx="21907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33"/>
                </a:solidFill>
              </a:defRPr>
            </a:pPr>
            <a:r>
              <a:rPr sz="1200" b="0">
                <a:solidFill>
                  <a:srgbClr val="172033"/>
                </a:solidFill>
              </a:rPr>
              <a:t>15 sekme • senaryo seçici • otomatik kontroller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87D8E25-10B3-4E96-A123-36C0B1A79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714500"/>
            <a:ext cx="2647950" cy="3143250"/>
          </a:xfrm>
          <a:prstGeom xmlns:a="http://schemas.openxmlformats.org/drawingml/2006/main" prst="roundRect">
            <a:avLst>
              <a:gd name="adj" fmla="val 4317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95853E3-7CF9-44FE-9059-3731658D6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000250"/>
            <a:ext cx="57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</a:defRPr>
            </a:pPr>
            <a:r>
              <a:rPr sz="1350" b="1">
                <a:solidFill>
                  <a:srgbClr val="3D8DFF"/>
                </a:solidFill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47C9D78-2EAB-4249-ADE1-8C0E7D103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590800"/>
            <a:ext cx="2190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32B"/>
                </a:solidFill>
              </a:defRPr>
            </a:pPr>
            <a:r>
              <a:rPr sz="1800" b="1">
                <a:solidFill>
                  <a:srgbClr val="0B132B"/>
                </a:solidFill>
              </a:rPr>
              <a:t>SQL + Python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6CE6C3A-B356-476A-A388-807761874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333750"/>
            <a:ext cx="21907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33"/>
                </a:solidFill>
              </a:defRPr>
            </a:pPr>
            <a:r>
              <a:rPr sz="1200" b="0">
                <a:solidFill>
                  <a:srgbClr val="172033"/>
                </a:solidFill>
              </a:rPr>
              <a:t>SQLite veri tabanı • 3 tahmin modeli • testler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E7F9FCB-49CC-4F5E-A244-61AFED62B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1714500"/>
            <a:ext cx="2647950" cy="3143250"/>
          </a:xfrm>
          <a:prstGeom xmlns:a="http://schemas.openxmlformats.org/drawingml/2006/main" prst="roundRect">
            <a:avLst>
              <a:gd name="adj" fmla="val 4317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DCE3ED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5A3B968-F215-49B5-8534-51E91236C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000250"/>
            <a:ext cx="57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7C3AED"/>
                </a:solidFill>
              </a:defRPr>
            </a:pPr>
            <a:r>
              <a:rPr sz="1350" b="1">
                <a:solidFill>
                  <a:srgbClr val="7C3AED"/>
                </a:solidFill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B3C4AA4-E8F7-495E-8A71-BECFE826E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590800"/>
            <a:ext cx="2190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32B"/>
                </a:solidFill>
              </a:defRPr>
            </a:pPr>
            <a:r>
              <a:rPr sz="1800" b="1">
                <a:solidFill>
                  <a:srgbClr val="0B132B"/>
                </a:solidFill>
              </a:rPr>
              <a:t>Yönetici Çıktıları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5AA2F16-5FB5-4269-848C-3BA0AAFCF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3333750"/>
            <a:ext cx="21907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33"/>
                </a:solidFill>
              </a:defRPr>
            </a:pPr>
            <a:r>
              <a:rPr sz="1200" b="0">
                <a:solidFill>
                  <a:srgbClr val="172033"/>
                </a:solidFill>
              </a:rPr>
              <a:t>10 sayfa vektör PDF • 20 slayt TR + EN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720C096-7061-427C-835D-08F7BF9C0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43500"/>
            <a:ext cx="1139190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E8F7EE"/>
          </a:solidFill>
          <a:ln xmlns:a="http://schemas.openxmlformats.org/drawingml/2006/main" w="9525">
            <a:solidFill>
              <a:srgbClr val="18A55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6F8FB5F-18A1-4203-A30D-352D4500E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43500"/>
            <a:ext cx="571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A558"/>
          </a:solidFill>
          <a:ln xmlns:a="http://schemas.openxmlformats.org/drawingml/2006/main" w="0">
            <a:solidFill>
              <a:srgbClr val="18A55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32FC168-FF24-42BF-AE50-D56FA9CAD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314950"/>
            <a:ext cx="11029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8A558"/>
                </a:solidFill>
              </a:defRPr>
            </a:pPr>
            <a:r>
              <a:rPr sz="1200" b="1">
                <a:solidFill>
                  <a:srgbClr val="18A558"/>
                </a:solidFill>
              </a:rPr>
              <a:t>Portföy avantajı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06EF624-7F35-4349-AE63-FF22BA729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638800"/>
            <a:ext cx="11029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2033"/>
                </a:solidFill>
              </a:defRPr>
            </a:pPr>
            <a:r>
              <a:rPr sz="1050" b="0">
                <a:solidFill>
                  <a:srgbClr val="172033"/>
                </a:solidFill>
              </a:rPr>
              <a:t>İşe alım uzmanı hem yönetici sonucunu hem de veri, kod, model ve dokümantasyon katmanlarını inceleyebilir.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BB49BDF-A4A8-45B5-9048-3745121A5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38900"/>
            <a:ext cx="590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67085"/>
                </a:solidFill>
              </a:defRPr>
            </a:pPr>
            <a:r>
              <a:rPr sz="675" b="0">
                <a:solidFill>
                  <a:srgbClr val="667085"/>
                </a:solidFill>
              </a:rPr>
              <a:t>MonacoLuxe ilhamlı sentetik portföy verisi | TRY | 2023-2026</a:t>
            </a:r>
          </a:p>
        </p:txBody>
      </p:sp>
    </p:spTree>
    <p:extLst>
      <p:ext uri="{BB962C8B-B14F-4D97-AF65-F5344CB8AC3E}">
        <p14:creationId xmlns:p14="http://schemas.microsoft.com/office/powerpoint/2010/main" val="731528490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">
            <a:extLst xmlns:a="http://schemas.openxmlformats.org/drawingml/2006/main">
              <a:ext uri="{FF2B5EF4-FFF2-40B4-BE49-F238E27FC236}">
                <a16:creationId xmlns:a16="http://schemas.microsoft.com/office/drawing/2014/main" id="{61B6FA16-48DD-44E0-AE8A-F2496B132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76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D8DFF"/>
                </a:solidFill>
              </a:defRPr>
            </a:pPr>
            <a:r>
              <a:rPr sz="900" b="1">
                <a:solidFill>
                  <a:srgbClr val="3D8DFF"/>
                </a:solidFill>
              </a:rPr>
              <a:t>E-COMMERCE DEMAND &amp; INVENTORY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230F2ADE-FD65-4499-8190-2FC0D0760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3875"/>
            <a:ext cx="7810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32B"/>
                </a:solidFill>
              </a:defRPr>
            </a:pPr>
            <a:r>
              <a:rPr sz="2550" b="1">
                <a:solidFill>
                  <a:srgbClr val="0B132B"/>
                </a:solidFill>
              </a:rPr>
              <a:t>İş Önerileri</a:t>
            </a:r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2A073775-0AC4-45DC-B2C2-3EE7099AD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590550"/>
            <a:ext cx="3476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67085"/>
                </a:solidFill>
              </a:defRPr>
            </a:pPr>
            <a:r>
              <a:rPr sz="975" b="0">
                <a:solidFill>
                  <a:srgbClr val="667085"/>
                </a:solidFill>
              </a:rPr>
              <a:t>Operasyonel kullanıma geçiş için 90 günlük yol haritası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5222BB-D583-476E-AA74-4355F0F31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66800"/>
            <a:ext cx="11391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791F29-77DD-456A-9853-4CE41D569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3890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67085"/>
                </a:solidFill>
              </a:defRPr>
            </a:pPr>
            <a:r>
              <a:rPr sz="825" b="1">
                <a:solidFill>
                  <a:srgbClr val="667085"/>
                </a:solidFill>
              </a:rPr>
              <a:t>19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2F2FFF-1B6B-42D3-BE15-6FF2ED11A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3562350" cy="4000500"/>
          </a:xfrm>
          <a:prstGeom xmlns:a="http://schemas.openxmlformats.org/drawingml/2006/main" prst="roundRect">
            <a:avLst>
              <a:gd name="adj" fmla="val 320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7F7F5CB-F4DC-445E-AC81-5CD7253B9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356235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278491E-ACA9-40F6-A546-75B84E06D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24025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0-30 Gün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15C8955-061C-45FA-8DB5-9D7E6B8A3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571750"/>
            <a:ext cx="31051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32B"/>
                </a:solidFill>
              </a:defRPr>
            </a:pPr>
            <a:r>
              <a:rPr sz="1650" b="1">
                <a:solidFill>
                  <a:srgbClr val="0B132B"/>
                </a:solidFill>
              </a:rPr>
              <a:t>Acil siparişleri doğrula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AC6F58E-1034-4485-AB7A-11AECA829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524250"/>
            <a:ext cx="31051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33"/>
                </a:solidFill>
              </a:defRPr>
            </a:pPr>
            <a:r>
              <a:rPr sz="1200" b="0">
                <a:solidFill>
                  <a:srgbClr val="172033"/>
                </a:solidFill>
              </a:rPr>
              <a:t>10 ORDER NOW SKU için tedarikçi kapasitesi, koli katı ve kampanya tarihini kontrol et.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E4EDE17-6F10-4D13-A2D4-F22E1654E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1562100"/>
            <a:ext cx="3562350" cy="4000500"/>
          </a:xfrm>
          <a:prstGeom xmlns:a="http://schemas.openxmlformats.org/drawingml/2006/main" prst="roundRect">
            <a:avLst>
              <a:gd name="adj" fmla="val 320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6DCBF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3929409-34D9-4514-835E-C5B591414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1562100"/>
            <a:ext cx="356235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6DCBF4"/>
          </a:solidFill>
          <a:ln xmlns:a="http://schemas.openxmlformats.org/drawingml/2006/main" w="0">
            <a:solidFill>
              <a:srgbClr val="6DCBF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9F610D3-2A3C-4ABB-8BE3-B57B75ADC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724025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31-60 Gün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2E7F28E-1F06-415B-9DAD-7AE441DD3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571750"/>
            <a:ext cx="31051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32B"/>
                </a:solidFill>
              </a:defRPr>
            </a:pPr>
            <a:r>
              <a:rPr sz="1650" b="1">
                <a:solidFill>
                  <a:srgbClr val="0B132B"/>
                </a:solidFill>
              </a:rPr>
              <a:t>Tahmin gözden geçirmesini işlet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ABBDE57-8DE1-466C-A5DE-E423F9CD7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524250"/>
            <a:ext cx="31051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33"/>
                </a:solidFill>
              </a:defRPr>
            </a:pPr>
            <a:r>
              <a:rPr sz="1200" b="0">
                <a:solidFill>
                  <a:srgbClr val="172033"/>
                </a:solidFill>
              </a:rPr>
              <a:t>Gerçekleşen talebi haftalık ekle; sapma ve WAPE’yi kategori bazında izle.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06DA765-47FB-4D6B-AECB-89B7311EE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562100"/>
            <a:ext cx="3562350" cy="4000500"/>
          </a:xfrm>
          <a:prstGeom xmlns:a="http://schemas.openxmlformats.org/drawingml/2006/main" prst="roundRect">
            <a:avLst>
              <a:gd name="adj" fmla="val 320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8A55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9FBB419-E355-4336-9198-7F58F1B9E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562100"/>
            <a:ext cx="356235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18A558"/>
          </a:solidFill>
          <a:ln xmlns:a="http://schemas.openxmlformats.org/drawingml/2006/main" w="0">
            <a:solidFill>
              <a:srgbClr val="18A55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BB23E54-F8DE-4930-AC17-B8A7D4242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724025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61-90 Gün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EB4343E-1A14-4EFF-81D8-7BC8EB8E4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571750"/>
            <a:ext cx="31051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32B"/>
                </a:solidFill>
              </a:defRPr>
            </a:pPr>
            <a:r>
              <a:rPr sz="1650" b="1">
                <a:solidFill>
                  <a:srgbClr val="0B132B"/>
                </a:solidFill>
              </a:rPr>
              <a:t>İstisna bazlı planlamaya geç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69DB31D-CD5E-446C-91F2-B8C591595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524250"/>
            <a:ext cx="31051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33"/>
                </a:solidFill>
              </a:defRPr>
            </a:pPr>
            <a:r>
              <a:rPr sz="1200" b="0">
                <a:solidFill>
                  <a:srgbClr val="172033"/>
                </a:solidFill>
              </a:rPr>
              <a:t>ROP ihlali, bütçe aşımı ve yüksek hata için otomatik uyarı oluştur.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3845DCE-E8B4-4328-8615-4ADAC672F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38900"/>
            <a:ext cx="590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67085"/>
                </a:solidFill>
              </a:defRPr>
            </a:pPr>
            <a:r>
              <a:rPr sz="675" b="0">
                <a:solidFill>
                  <a:srgbClr val="667085"/>
                </a:solidFill>
              </a:rPr>
              <a:t>MonacoLuxe ilhamlı sentetik portföy verisi | TRY | 2023-2026</a:t>
            </a:r>
          </a:p>
        </p:txBody>
      </p:sp>
    </p:spTree>
    <p:extLst>
      <p:ext uri="{BB962C8B-B14F-4D97-AF65-F5344CB8AC3E}">
        <p14:creationId xmlns:p14="http://schemas.microsoft.com/office/powerpoint/2010/main" val="1880668610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0B13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F24B0A9-7B72-4680-B746-67A5355DD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191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CBF4"/>
                </a:solidFill>
              </a:defRPr>
            </a:pPr>
            <a:r>
              <a:rPr sz="975" b="1">
                <a:solidFill>
                  <a:srgbClr val="6DCBF4"/>
                </a:solidFill>
              </a:rPr>
              <a:t>TEŞEKKÜRLER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AA6C99-A90F-4C14-9F36-8A14B5794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19250"/>
            <a:ext cx="9048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FFFFFF"/>
                </a:solidFill>
              </a:defRPr>
            </a:pPr>
            <a:r>
              <a:rPr sz="3750" b="1">
                <a:solidFill>
                  <a:srgbClr val="FFFFFF"/>
                </a:solidFill>
              </a:rPr>
              <a:t>Raporlamadan ileriye dönük kararlara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B2E8458-4DC2-4E72-ACA6-2EEB18614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29000"/>
            <a:ext cx="7810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D7E3F7"/>
                </a:solidFill>
              </a:defRPr>
            </a:pPr>
            <a:r>
              <a:rPr sz="1500" b="0">
                <a:solidFill>
                  <a:srgbClr val="D7E3F7"/>
                </a:solidFill>
              </a:rPr>
              <a:t>İstatistiksel düşünme, makine öğrenmesi, stok matematiği, iş zekâsı ve yönetici iletişimini tek sistemde birleştiren eksiksiz bir portföy projesi.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80A9D1-2727-4B09-A806-883039BC1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14350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Murat Miraç Gedik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0F64C2-613D-4C60-A7CD-94F8A0D89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61975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DCBF4"/>
                </a:solidFill>
              </a:defRPr>
            </a:pPr>
            <a:r>
              <a:rPr sz="1050" b="0">
                <a:solidFill>
                  <a:srgbClr val="6DCBF4"/>
                </a:solidFill>
              </a:rPr>
              <a:t>GitHub • LinkedIn • Business Intelligence • Forecasting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1FBD94-41A1-4796-820E-1DFB302A8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38875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B9C7DB"/>
                </a:solidFill>
              </a:defRPr>
            </a:pPr>
            <a:r>
              <a:rPr sz="750" b="0">
                <a:solidFill>
                  <a:srgbClr val="B9C7DB"/>
                </a:solidFill>
              </a:rPr>
              <a:t>MonacoLuxe ilhamlı sentetik portföy verisi | TRY | 2023-2026</a:t>
            </a:r>
          </a:p>
        </p:txBody>
      </p:sp>
    </p:spTree>
    <p:extLst>
      <p:ext uri="{BB962C8B-B14F-4D97-AF65-F5344CB8AC3E}">
        <p14:creationId xmlns:p14="http://schemas.microsoft.com/office/powerpoint/2010/main" val="38444073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2026-07-25T23:08:12.6620000Z</dcterms:created>
  <dcterms:modified xsi:type="dcterms:W3CDTF">2026-07-25T23:08:12.6620000Z</dcterms:modified>
</coreProperties>
</file>