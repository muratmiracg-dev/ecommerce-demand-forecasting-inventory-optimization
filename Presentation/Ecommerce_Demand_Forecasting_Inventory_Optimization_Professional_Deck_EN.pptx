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8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4a8c4cc5b04836" /><Relationship Type="http://schemas.openxmlformats.org/officeDocument/2006/relationships/extended-properties" Target="/docProps/app.xml" Id="Rca854851f1e84eeb" /><Relationship Type="http://schemas.openxmlformats.org/officeDocument/2006/relationships/officeDocument" Target="/ppt/presentation.xml" Id="Rca15ac16a41d48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4d195ed5a4416d"/>
  </p:sldMasterIdLst>
  <p:notesMasterIdLst>
    <p:notesMasterId xmlns:r="http://schemas.openxmlformats.org/officeDocument/2006/relationships" r:id="R2cda65b80f8c4403"/>
  </p:notesMasterIdLst>
  <p:sldIdLst>
    <p:sldId xmlns:r="http://schemas.openxmlformats.org/officeDocument/2006/relationships" id="256" r:id="Rad2420105d7141e5"/>
    <p:sldId xmlns:r="http://schemas.openxmlformats.org/officeDocument/2006/relationships" id="257" r:id="R6853e10e6e3e44d7"/>
    <p:sldId xmlns:r="http://schemas.openxmlformats.org/officeDocument/2006/relationships" id="258" r:id="R053ec2e6e6be4bca"/>
    <p:sldId xmlns:r="http://schemas.openxmlformats.org/officeDocument/2006/relationships" id="259" r:id="R6a95f412a10e431a"/>
    <p:sldId xmlns:r="http://schemas.openxmlformats.org/officeDocument/2006/relationships" id="260" r:id="R334ebf6a855a4214"/>
    <p:sldId xmlns:r="http://schemas.openxmlformats.org/officeDocument/2006/relationships" id="261" r:id="Rf8717e9157594fd4"/>
    <p:sldId xmlns:r="http://schemas.openxmlformats.org/officeDocument/2006/relationships" id="262" r:id="R1ba00395cb234fe4"/>
    <p:sldId xmlns:r="http://schemas.openxmlformats.org/officeDocument/2006/relationships" id="263" r:id="R40508fdd2afe4189"/>
    <p:sldId xmlns:r="http://schemas.openxmlformats.org/officeDocument/2006/relationships" id="264" r:id="Rdf4bc717b3594db5"/>
    <p:sldId xmlns:r="http://schemas.openxmlformats.org/officeDocument/2006/relationships" id="265" r:id="R20ad3b1c010e4845"/>
    <p:sldId xmlns:r="http://schemas.openxmlformats.org/officeDocument/2006/relationships" id="266" r:id="Rf2498b1162474c7e"/>
    <p:sldId xmlns:r="http://schemas.openxmlformats.org/officeDocument/2006/relationships" id="267" r:id="R48a997e0c5e8407a"/>
    <p:sldId xmlns:r="http://schemas.openxmlformats.org/officeDocument/2006/relationships" id="268" r:id="R7a34d528486c4e82"/>
    <p:sldId xmlns:r="http://schemas.openxmlformats.org/officeDocument/2006/relationships" id="269" r:id="R1aaf3cb0d7fa4286"/>
    <p:sldId xmlns:r="http://schemas.openxmlformats.org/officeDocument/2006/relationships" id="270" r:id="R573024358b4c4275"/>
    <p:sldId xmlns:r="http://schemas.openxmlformats.org/officeDocument/2006/relationships" id="271" r:id="Rfcffd11e08214a63"/>
    <p:sldId xmlns:r="http://schemas.openxmlformats.org/officeDocument/2006/relationships" id="272" r:id="R25853e4b684c49bf"/>
    <p:sldId xmlns:r="http://schemas.openxmlformats.org/officeDocument/2006/relationships" id="273" r:id="R12f1cfbbb9534de4"/>
    <p:sldId xmlns:r="http://schemas.openxmlformats.org/officeDocument/2006/relationships" id="274" r:id="Rb7ab506e83154b35"/>
    <p:sldId xmlns:r="http://schemas.openxmlformats.org/officeDocument/2006/relationships" id="275" r:id="Rb387feb913cb41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f9354ff6c04131" /><Relationship Type="http://schemas.openxmlformats.org/officeDocument/2006/relationships/slideMaster" Target="/ppt/slideMasters/slideMaster1.xml" Id="R154d195ed5a4416d" /><Relationship Type="http://schemas.openxmlformats.org/officeDocument/2006/relationships/notesMaster" Target="/ppt/notesMasters/notesMaster1.xml" Id="R2cda65b80f8c4403" /><Relationship Type="http://schemas.openxmlformats.org/officeDocument/2006/relationships/presProps" Target="/ppt/presProps.xml" Id="R3e15d17f127e41d8" /><Relationship Type="http://schemas.openxmlformats.org/officeDocument/2006/relationships/tableStyles" Target="/ppt/tableStyles.xml" Id="R093e16660a7042ac" /><Relationship Type="http://schemas.openxmlformats.org/officeDocument/2006/relationships/slide" Target="/ppt/slides/slide1.xml" Id="Rad2420105d7141e5" /><Relationship Type="http://schemas.openxmlformats.org/officeDocument/2006/relationships/slide" Target="/ppt/slides/slide2.xml" Id="R6853e10e6e3e44d7" /><Relationship Type="http://schemas.openxmlformats.org/officeDocument/2006/relationships/slide" Target="/ppt/slides/slide3.xml" Id="R053ec2e6e6be4bca" /><Relationship Type="http://schemas.openxmlformats.org/officeDocument/2006/relationships/slide" Target="/ppt/slides/slide4.xml" Id="R6a95f412a10e431a" /><Relationship Type="http://schemas.openxmlformats.org/officeDocument/2006/relationships/slide" Target="/ppt/slides/slide5.xml" Id="R334ebf6a855a4214" /><Relationship Type="http://schemas.openxmlformats.org/officeDocument/2006/relationships/slide" Target="/ppt/slides/slide6.xml" Id="Rf8717e9157594fd4" /><Relationship Type="http://schemas.openxmlformats.org/officeDocument/2006/relationships/slide" Target="/ppt/slides/slide7.xml" Id="R1ba00395cb234fe4" /><Relationship Type="http://schemas.openxmlformats.org/officeDocument/2006/relationships/slide" Target="/ppt/slides/slide8.xml" Id="R40508fdd2afe4189" /><Relationship Type="http://schemas.openxmlformats.org/officeDocument/2006/relationships/slide" Target="/ppt/slides/slide9.xml" Id="Rdf4bc717b3594db5" /><Relationship Type="http://schemas.openxmlformats.org/officeDocument/2006/relationships/slide" Target="/ppt/slides/slide10.xml" Id="R20ad3b1c010e4845" /><Relationship Type="http://schemas.openxmlformats.org/officeDocument/2006/relationships/slide" Target="/ppt/slides/slide11.xml" Id="Rf2498b1162474c7e" /><Relationship Type="http://schemas.openxmlformats.org/officeDocument/2006/relationships/slide" Target="/ppt/slides/slide12.xml" Id="R48a997e0c5e8407a" /><Relationship Type="http://schemas.openxmlformats.org/officeDocument/2006/relationships/slide" Target="/ppt/slides/slide13.xml" Id="R7a34d528486c4e82" /><Relationship Type="http://schemas.openxmlformats.org/officeDocument/2006/relationships/slide" Target="/ppt/slides/slide14.xml" Id="R1aaf3cb0d7fa4286" /><Relationship Type="http://schemas.openxmlformats.org/officeDocument/2006/relationships/slide" Target="/ppt/slides/slide15.xml" Id="R573024358b4c4275" /><Relationship Type="http://schemas.openxmlformats.org/officeDocument/2006/relationships/slide" Target="/ppt/slides/slide16.xml" Id="Rfcffd11e08214a63" /><Relationship Type="http://schemas.openxmlformats.org/officeDocument/2006/relationships/slide" Target="/ppt/slides/slide17.xml" Id="R25853e4b684c49bf" /><Relationship Type="http://schemas.openxmlformats.org/officeDocument/2006/relationships/slide" Target="/ppt/slides/slide18.xml" Id="R12f1cfbbb9534de4" /><Relationship Type="http://schemas.openxmlformats.org/officeDocument/2006/relationships/slide" Target="/ppt/slides/slide19.xml" Id="Rb7ab506e83154b35" /><Relationship Type="http://schemas.openxmlformats.org/officeDocument/2006/relationships/slide" Target="/ppt/slides/slide20.xml" Id="Rb387feb913cb41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e767355a1945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e52666f2e34f8b" /><Relationship Type="http://schemas.openxmlformats.org/officeDocument/2006/relationships/notesMaster" Target="/ppt/notesMasters/notesMaster1.xml" Id="Rbf47185d94c046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6471f85e43491b" /><Relationship Type="http://schemas.openxmlformats.org/officeDocument/2006/relationships/notesMaster" Target="/ppt/notesMasters/notesMaster1.xml" Id="R33ef4a6b6a0241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03ba7647024466" /><Relationship Type="http://schemas.openxmlformats.org/officeDocument/2006/relationships/notesMaster" Target="/ppt/notesMasters/notesMaster1.xml" Id="Rb81060003b4c4c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1f3fcc79ae4720" /><Relationship Type="http://schemas.openxmlformats.org/officeDocument/2006/relationships/notesMaster" Target="/ppt/notesMasters/notesMaster1.xml" Id="R11d84e5d2a2348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4836b484e4439d" /><Relationship Type="http://schemas.openxmlformats.org/officeDocument/2006/relationships/notesMaster" Target="/ppt/notesMasters/notesMaster1.xml" Id="Rb375d1584dc743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ff0b196b874ecd" /><Relationship Type="http://schemas.openxmlformats.org/officeDocument/2006/relationships/notesMaster" Target="/ppt/notesMasters/notesMaster1.xml" Id="R6167b0e37f8442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15ab2e19824228" /><Relationship Type="http://schemas.openxmlformats.org/officeDocument/2006/relationships/notesMaster" Target="/ppt/notesMasters/notesMaster1.xml" Id="Rd4115058051243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0a56fd5cab4289" /><Relationship Type="http://schemas.openxmlformats.org/officeDocument/2006/relationships/notesMaster" Target="/ppt/notesMasters/notesMaster1.xml" Id="R147a357514c24d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3ee4be69d94c86" /><Relationship Type="http://schemas.openxmlformats.org/officeDocument/2006/relationships/notesMaster" Target="/ppt/notesMasters/notesMaster1.xml" Id="R57d302b7450545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ff071332b84f7c" /><Relationship Type="http://schemas.openxmlformats.org/officeDocument/2006/relationships/notesMaster" Target="/ppt/notesMasters/notesMaster1.xml" Id="R0798476e27fa4d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18b3f5a47a4db5" /><Relationship Type="http://schemas.openxmlformats.org/officeDocument/2006/relationships/notesMaster" Target="/ppt/notesMasters/notesMaster1.xml" Id="R5ba2b386cb1c4f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74f9ca54f44660" /><Relationship Type="http://schemas.openxmlformats.org/officeDocument/2006/relationships/notesMaster" Target="/ppt/notesMasters/notesMaster1.xml" Id="R6c81ccd9778b40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7e652121074555" /><Relationship Type="http://schemas.openxmlformats.org/officeDocument/2006/relationships/notesMaster" Target="/ppt/notesMasters/notesMaster1.xml" Id="Reafbf734d1b943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a7c8816faa43fb" /><Relationship Type="http://schemas.openxmlformats.org/officeDocument/2006/relationships/notesMaster" Target="/ppt/notesMasters/notesMaster1.xml" Id="R9a32eee8abaf4b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d9e8e6c1034ba5" /><Relationship Type="http://schemas.openxmlformats.org/officeDocument/2006/relationships/notesMaster" Target="/ppt/notesMasters/notesMaster1.xml" Id="R17819ee7a52344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dd4ad850004ae2" /><Relationship Type="http://schemas.openxmlformats.org/officeDocument/2006/relationships/notesMaster" Target="/ppt/notesMasters/notesMaster1.xml" Id="R39608f03135f46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539c52efc14468" /><Relationship Type="http://schemas.openxmlformats.org/officeDocument/2006/relationships/notesMaster" Target="/ppt/notesMasters/notesMaster1.xml" Id="R6a451b3e5fd34b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cc5c62d61a4e8a" /><Relationship Type="http://schemas.openxmlformats.org/officeDocument/2006/relationships/notesMaster" Target="/ppt/notesMasters/notesMaster1.xml" Id="R818ef8e8b2b249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3723ab92f24d8c" /><Relationship Type="http://schemas.openxmlformats.org/officeDocument/2006/relationships/notesMaster" Target="/ppt/notesMasters/notesMaster1.xml" Id="R0b9169c0c4c34c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5f0f06805f4ef3" /><Relationship Type="http://schemas.openxmlformats.org/officeDocument/2006/relationships/notesMaster" Target="/ppt/notesMasters/notesMaster1.xml" Id="R88944890128946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Data/dim_product.csv</a:t>
            </a:r>
          </a:p>
          <a:p xmlns:a="http://schemas.openxmlformats.org/drawingml/2006/main">
            <a:r>
              <a:t>- Internal synthetic project source: Data/dim_calendar.csv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Data/monthly_performance.csv</a:t>
            </a:r>
          </a:p>
          <a:p xmlns:a="http://schemas.openxmlformats.org/drawingml/2006/main">
            <a:r>
              <a:t>- Internal synthetic project source: Data/model_comparison.csv</a:t>
            </a:r>
          </a:p>
          <a:p xmlns:a="http://schemas.openxmlformats.org/drawingml/2006/main">
            <a:r>
              <a:t>- Internal synthetic project source: Data/scenario_summary.csv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docs/methodology.md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- Internal synthetic project source: docs/methodology.md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Data/fact_weekly_sales.csv</a:t>
            </a:r>
          </a:p>
          <a:p xmlns:a="http://schemas.openxmlformats.org/drawingml/2006/main">
            <a:r>
              <a:t>- Internal synthetic project source: Data/fact_inventory_snapshot.csv</a:t>
            </a:r>
          </a:p>
          <a:p xmlns:a="http://schemas.openxmlformats.org/drawingml/2006/main">
            <a:r>
              <a:t>- Internal synthetic project source: Data/fact_purchase_orders.csv</a:t>
            </a:r>
          </a:p>
          <a:p xmlns:a="http://schemas.openxmlformats.org/drawingml/2006/main">
            <a:r>
              <a:t>- Internal synthetic project source: Data/forecast_results.csv</a:t>
            </a:r>
          </a:p>
          <a:p xmlns:a="http://schemas.openxmlformats.org/drawingml/2006/main">
            <a:r>
              <a:t>- Internal synthetic project source: Data/inventory_scenarios.csv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Python/src/ecom_opt/run_pipeline.py</a:t>
            </a:r>
          </a:p>
          <a:p xmlns:a="http://schemas.openxmlformats.org/drawingml/2006/main">
            <a:r>
              <a:t>- Internal synthetic project source: SQL/ecommerce_demand_inventory.db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docs/data_dictionary.md</a:t>
            </a:r>
          </a:p>
          <a:p xmlns:a="http://schemas.openxmlformats.org/drawingml/2006/main">
            <a:r>
              <a:t>- Internal synthetic project source: PowerBI/Ecommerce_Demand_Inventory_PBIP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Data/monthly_performance.csv</a:t>
            </a:r>
          </a:p>
          <a:p xmlns:a="http://schemas.openxmlformats.org/drawingml/2006/main">
            <a:r>
              <a:t>- Internal synthetic project source: Data/category_performance.csv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Data/monthly_performance.csv</a:t>
            </a:r>
          </a:p>
          <a:p xmlns:a="http://schemas.openxmlformats.org/drawingml/2006/main">
            <a:r>
              <a:t>- Internal synthetic project source: Data/fact_promotions.csv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Python/src/ecom_opt/forecasting.py</a:t>
            </a:r>
          </a:p>
          <a:p xmlns:a="http://schemas.openxmlformats.org/drawingml/2006/main">
            <a:r>
              <a:t>- Internal synthetic project source: Data/model_comparison.csv</a:t>
            </a:r>
          </a:p>
          <a:p xmlns:a="http://schemas.openxmlformats.org/drawingml/2006/main">
            <a:r>
              <a:t>- Official methodology reference: https://scikit-learn.org/stable/modules/generated/sklearn.ensemble.HistGradientBoostingRegressor.html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Data/model_comparison.csv</a:t>
            </a:r>
          </a:p>
          <a:p xmlns:a="http://schemas.openxmlformats.org/drawingml/2006/main">
            <a:r>
              <a:t>- Internal synthetic project source: Data/forecast_backtest.csv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Data/forecast_results.csv</a:t>
            </a:r>
          </a:p>
          <a:p xmlns:a="http://schemas.openxmlformats.org/drawingml/2006/main">
            <a:r>
              <a:t>- Internal synthetic project source: Data/forecast_monthly.csv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Python/src/ecom_opt/inventory.py</a:t>
            </a:r>
          </a:p>
          <a:p xmlns:a="http://schemas.openxmlformats.org/drawingml/2006/main">
            <a:r>
              <a:t>- Internal synthetic project source: Data/replenishment_recommendations.csv</a:t>
            </a:r>
          </a:p>
          <a:p xmlns:a="http://schemas.openxmlformats.org/drawingml/2006/main">
            <a:r>
              <a:t>- Official statistical reference: https://docs.scipy.org/doc/scipy/reference/generated/scipy.stats.norm.html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Data/replenishment_recommendations.csv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Data/replenishment_recommendations.csv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Data/supplier_scorecard.csv</a:t>
            </a:r>
          </a:p>
          <a:p xmlns:a="http://schemas.openxmlformats.org/drawingml/2006/main">
            <a:r>
              <a:t>- Internal synthetic project source: Data/fact_purchase_orders.csv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Data/scenario_summary.csv</a:t>
            </a:r>
          </a:p>
          <a:p xmlns:a="http://schemas.openxmlformats.org/drawingml/2006/main">
            <a:r>
              <a:t>- Internal synthetic project source: Data/inventory_scenarios.csv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Excel/Ecommerce_Demand_Inventory_Scenario_Planner.xlsx</a:t>
            </a:r>
          </a:p>
          <a:p xmlns:a="http://schemas.openxmlformats.org/drawingml/2006/main">
            <a:r>
              <a:t>- Internal synthetic project source: PowerBI/Ecommerce_Demand_Inventory_PBIP</a:t>
            </a:r>
          </a:p>
          <a:p xmlns:a="http://schemas.openxmlformats.org/drawingml/2006/main">
            <a:r>
              <a:t>- Internal synthetic project source: Reports/Ecommerce_Demand_Inventory_10_Page_Vector_HD.pdf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Reports/Ecommerce_Demand_Inventory_10_Page_Vector_HD.pdf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c3d45778d48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6f4f6d5ccd4287" /><Relationship Type="http://schemas.openxmlformats.org/officeDocument/2006/relationships/slideLayout" Target="/ppt/slideLayouts/slideLayout1.xml" Id="R4a113d350a5d46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113d350a5d46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d61035e1140c4" /><Relationship Type="http://schemas.openxmlformats.org/officeDocument/2006/relationships/notesSlide" Target="/ppt/notesSlides/notesSlide1.xml" Id="R10fcd1eb039d4a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b1e8ed4ad4665" /><Relationship Type="http://schemas.openxmlformats.org/officeDocument/2006/relationships/notesSlide" Target="/ppt/notesSlides/notesSlide2.xml" Id="R9af4ef51349841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e40398ed246c3" /><Relationship Type="http://schemas.openxmlformats.org/officeDocument/2006/relationships/notesSlide" Target="/ppt/notesSlides/notesSlide3.xml" Id="R6950252e2fc44b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65e2082854cc4" /><Relationship Type="http://schemas.openxmlformats.org/officeDocument/2006/relationships/notesSlide" Target="/ppt/notesSlides/notesSlide4.xml" Id="R3ac50e475fb542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4cdb0183d40f0" /><Relationship Type="http://schemas.openxmlformats.org/officeDocument/2006/relationships/notesSlide" Target="/ppt/notesSlides/notesSlide5.xml" Id="R2c3f129b0cc148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a3b055c3348b2" /><Relationship Type="http://schemas.openxmlformats.org/officeDocument/2006/relationships/notesSlide" Target="/ppt/notesSlides/notesSlide6.xml" Id="R7a7f96c300304f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def51f4ca4914" /><Relationship Type="http://schemas.openxmlformats.org/officeDocument/2006/relationships/notesSlide" Target="/ppt/notesSlides/notesSlide7.xml" Id="R6efd49ad4d8843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ddd3533b24b50" /><Relationship Type="http://schemas.openxmlformats.org/officeDocument/2006/relationships/chart" Target="/ppt/slides/charts/chart1.xml" Id="Rf117f53a98334613" /><Relationship Type="http://schemas.openxmlformats.org/officeDocument/2006/relationships/notesSlide" Target="/ppt/notesSlides/notesSlide8.xml" Id="Re5b8c2acc71743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6c52535c94248" /><Relationship Type="http://schemas.openxmlformats.org/officeDocument/2006/relationships/chart" Target="/ppt/slides/charts/chart2.xml" Id="R1b62cc4502a94ee2" /><Relationship Type="http://schemas.openxmlformats.org/officeDocument/2006/relationships/notesSlide" Target="/ppt/notesSlides/notesSlide9.xml" Id="R9ef9b070dd1a44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ce42bf5da437d" /><Relationship Type="http://schemas.openxmlformats.org/officeDocument/2006/relationships/notesSlide" Target="/ppt/notesSlides/notesSlide10.xml" Id="R120347ce915349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c8436763e4f52" /><Relationship Type="http://schemas.openxmlformats.org/officeDocument/2006/relationships/chart" Target="/ppt/slides/charts/chart3.xml" Id="R9140689c0cc747f0" /><Relationship Type="http://schemas.openxmlformats.org/officeDocument/2006/relationships/notesSlide" Target="/ppt/notesSlides/notesSlide11.xml" Id="Rb4d3b43b852f46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7e6c6678f4d2c" /><Relationship Type="http://schemas.openxmlformats.org/officeDocument/2006/relationships/chart" Target="/ppt/slides/charts/chart4.xml" Id="R6aaa03c7016c4807" /><Relationship Type="http://schemas.openxmlformats.org/officeDocument/2006/relationships/notesSlide" Target="/ppt/notesSlides/notesSlide12.xml" Id="R4d89b7ba4a3446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d1d5dbb484d32" /><Relationship Type="http://schemas.openxmlformats.org/officeDocument/2006/relationships/notesSlide" Target="/ppt/notesSlides/notesSlide13.xml" Id="R1b9ee28594ac41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c69e2e7c34c6a" /><Relationship Type="http://schemas.openxmlformats.org/officeDocument/2006/relationships/chart" Target="/ppt/slides/charts/chart5.xml" Id="Re1f9b8c68abf4400" /><Relationship Type="http://schemas.openxmlformats.org/officeDocument/2006/relationships/notesSlide" Target="/ppt/notesSlides/notesSlide14.xml" Id="R826149bda2c447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162339c2649c4" /><Relationship Type="http://schemas.openxmlformats.org/officeDocument/2006/relationships/chart" Target="/ppt/slides/charts/chart6.xml" Id="R66a80fa1605c49c7" /><Relationship Type="http://schemas.openxmlformats.org/officeDocument/2006/relationships/notesSlide" Target="/ppt/notesSlides/notesSlide15.xml" Id="R3b0dae5cff7449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680eb94b54d30" /><Relationship Type="http://schemas.openxmlformats.org/officeDocument/2006/relationships/chart" Target="/ppt/slides/charts/chart7.xml" Id="Re56541b6eb324e02" /><Relationship Type="http://schemas.openxmlformats.org/officeDocument/2006/relationships/notesSlide" Target="/ppt/notesSlides/notesSlide16.xml" Id="Re5277948b93c47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52eb422844243" /><Relationship Type="http://schemas.openxmlformats.org/officeDocument/2006/relationships/chart" Target="/ppt/slides/charts/chart8.xml" Id="R3a2c2272c9494d72" /><Relationship Type="http://schemas.openxmlformats.org/officeDocument/2006/relationships/notesSlide" Target="/ppt/notesSlides/notesSlide17.xml" Id="Rb56255e7a98f409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f46bf11d64ee2" /><Relationship Type="http://schemas.openxmlformats.org/officeDocument/2006/relationships/notesSlide" Target="/ppt/notesSlides/notesSlide18.xml" Id="R00bf96d47b0a41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12c2e131b4114" /><Relationship Type="http://schemas.openxmlformats.org/officeDocument/2006/relationships/notesSlide" Target="/ppt/notesSlides/notesSlide19.xml" Id="R256320095bec410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b59bf05434283" /><Relationship Type="http://schemas.openxmlformats.org/officeDocument/2006/relationships/notesSlide" Target="/ppt/notesSlides/notesSlide20.xml" Id="R37b17a44eee44f5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(TRY M)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36"/>
              <c:pt idx="0">
                <c:v>2023-01</c:v>
              </c:pt>
              <c:pt idx="1">
                <c:v>2023-02</c:v>
              </c:pt>
              <c:pt idx="2">
                <c:v>2023-03</c:v>
              </c:pt>
              <c:pt idx="3">
                <c:v>2023-04</c:v>
              </c:pt>
              <c:pt idx="4">
                <c:v>2023-05</c:v>
              </c:pt>
              <c:pt idx="5">
                <c:v>2023-06</c:v>
              </c:pt>
              <c:pt idx="6">
                <c:v>2023-07</c:v>
              </c:pt>
              <c:pt idx="7">
                <c:v>2023-08</c:v>
              </c:pt>
              <c:pt idx="8">
                <c:v>2023-09</c:v>
              </c:pt>
              <c:pt idx="9">
                <c:v>2023-10</c:v>
              </c:pt>
              <c:pt idx="10">
                <c:v>2023-11</c:v>
              </c:pt>
              <c:pt idx="11">
                <c:v>2023-12</c:v>
              </c:pt>
              <c:pt idx="12">
                <c:v>2024-01</c:v>
              </c:pt>
              <c:pt idx="13">
                <c:v>2024-02</c:v>
              </c:pt>
              <c:pt idx="14">
                <c:v>2024-03</c:v>
              </c:pt>
              <c:pt idx="15">
                <c:v>2024-04</c:v>
              </c:pt>
              <c:pt idx="16">
                <c:v>2024-05</c:v>
              </c:pt>
              <c:pt idx="17">
                <c:v>2024-06</c:v>
              </c:pt>
              <c:pt idx="18">
                <c:v>2024-07</c:v>
              </c:pt>
              <c:pt idx="19">
                <c:v>2024-08</c:v>
              </c:pt>
              <c:pt idx="20">
                <c:v>2024-09</c:v>
              </c:pt>
              <c:pt idx="21">
                <c:v>2024-10</c:v>
              </c:pt>
              <c:pt idx="22">
                <c:v>2024-11</c:v>
              </c:pt>
              <c:pt idx="23">
                <c:v>2024-12</c:v>
              </c:pt>
              <c:pt idx="24">
                <c:v>2025-01</c:v>
              </c:pt>
              <c:pt idx="25">
                <c:v>2025-02</c:v>
              </c:pt>
              <c:pt idx="26">
                <c:v>2025-03</c:v>
              </c:pt>
              <c:pt idx="27">
                <c:v>2025-04</c:v>
              </c:pt>
              <c:pt idx="28">
                <c:v>2025-05</c:v>
              </c:pt>
              <c:pt idx="29">
                <c:v>2025-06</c:v>
              </c:pt>
              <c:pt idx="30">
                <c:v>2025-07</c:v>
              </c:pt>
              <c:pt idx="31">
                <c:v>2025-08</c:v>
              </c:pt>
              <c:pt idx="32">
                <c:v>2025-09</c:v>
              </c:pt>
              <c:pt idx="33">
                <c:v>2025-10</c:v>
              </c:pt>
              <c:pt idx="34">
                <c:v>2025-11</c:v>
              </c:pt>
              <c:pt idx="35">
                <c:v>2025-12</c:v>
              </c:pt>
            </c:strLit>
          </c:cat>
          <c:val>
            <c:numLit>
              <c:formatCode>0.0</c:formatCode>
              <c:ptCount val="36"/>
              <c:pt idx="0">
                <c:v>28.651604199999998</c:v>
              </c:pt>
              <c:pt idx="1">
                <c:v>22.550934</c:v>
              </c:pt>
              <c:pt idx="2">
                <c:v>23.1200622</c:v>
              </c:pt>
              <c:pt idx="3">
                <c:v>23.3938508</c:v>
              </c:pt>
              <c:pt idx="4">
                <c:v>28.676542</c:v>
              </c:pt>
              <c:pt idx="5">
                <c:v>23.5347028</c:v>
              </c:pt>
              <c:pt idx="6">
                <c:v>29.625929600000003</c:v>
              </c:pt>
              <c:pt idx="7">
                <c:v>23.2918716</c:v>
              </c:pt>
              <c:pt idx="8">
                <c:v>23.727578</c:v>
              </c:pt>
              <c:pt idx="9">
                <c:v>28.775301</c:v>
              </c:pt>
              <c:pt idx="10">
                <c:v>25.4141</c:v>
              </c:pt>
              <c:pt idx="11">
                <c:v>22.9028768</c:v>
              </c:pt>
              <c:pt idx="12">
                <c:v>26.666321</c:v>
              </c:pt>
              <c:pt idx="13">
                <c:v>22.0305358</c:v>
              </c:pt>
              <c:pt idx="14">
                <c:v>23.2728604</c:v>
              </c:pt>
              <c:pt idx="15">
                <c:v>28.2716128</c:v>
              </c:pt>
              <c:pt idx="16">
                <c:v>22.4965322</c:v>
              </c:pt>
              <c:pt idx="17">
                <c:v>21.954417600000003</c:v>
              </c:pt>
              <c:pt idx="18">
                <c:v>26.825370399999997</c:v>
              </c:pt>
              <c:pt idx="19">
                <c:v>21.1410284</c:v>
              </c:pt>
              <c:pt idx="20">
                <c:v>27.765102199999998</c:v>
              </c:pt>
              <c:pt idx="21">
                <c:v>21.8636812</c:v>
              </c:pt>
              <c:pt idx="22">
                <c:v>24.9608366</c:v>
              </c:pt>
              <c:pt idx="23">
                <c:v>26.1379497</c:v>
              </c:pt>
              <c:pt idx="24">
                <c:v>20.839552</c:v>
              </c:pt>
              <c:pt idx="25">
                <c:v>22.0554476</c:v>
              </c:pt>
              <c:pt idx="26">
                <c:v>28.7664288</c:v>
              </c:pt>
              <c:pt idx="27">
                <c:v>22.483145399999998</c:v>
              </c:pt>
              <c:pt idx="28">
                <c:v>22.465750800000002</c:v>
              </c:pt>
              <c:pt idx="29">
                <c:v>27.659127</c:v>
              </c:pt>
              <c:pt idx="30">
                <c:v>20.1828632</c:v>
              </c:pt>
              <c:pt idx="31">
                <c:v>22.554720399999997</c:v>
              </c:pt>
              <c:pt idx="32">
                <c:v>28.666390399999997</c:v>
              </c:pt>
              <c:pt idx="33">
                <c:v>22.854291</c:v>
              </c:pt>
              <c:pt idx="34">
                <c:v>26.2427034</c:v>
              </c:pt>
              <c:pt idx="35">
                <c:v>29.902337199999998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Demand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12"/>
              <c:pt idx="0">
                <c:v>2023-01</c:v>
              </c:pt>
              <c:pt idx="1">
                <c:v>2023-04</c:v>
              </c:pt>
              <c:pt idx="2">
                <c:v>2023-07</c:v>
              </c:pt>
              <c:pt idx="3">
                <c:v>2023-10</c:v>
              </c:pt>
              <c:pt idx="4">
                <c:v>2024-01</c:v>
              </c:pt>
              <c:pt idx="5">
                <c:v>2024-04</c:v>
              </c:pt>
              <c:pt idx="6">
                <c:v>2024-07</c:v>
              </c:pt>
              <c:pt idx="7">
                <c:v>2024-10</c:v>
              </c:pt>
              <c:pt idx="8">
                <c:v>2025-01</c:v>
              </c:pt>
              <c:pt idx="9">
                <c:v>2025-04</c:v>
              </c:pt>
              <c:pt idx="10">
                <c:v>2025-07</c:v>
              </c:pt>
              <c:pt idx="11">
                <c:v>2025-10</c:v>
              </c:pt>
            </c:strLit>
          </c:cat>
          <c:val>
            <c:numLit>
              <c:formatCode>0.0</c:formatCode>
              <c:ptCount val="12"/>
              <c:pt idx="0">
                <c:v>17.699</c:v>
              </c:pt>
              <c:pt idx="1">
                <c:v>13.335</c:v>
              </c:pt>
              <c:pt idx="2">
                <c:v>18.454009999999997</c:v>
              </c:pt>
              <c:pt idx="3">
                <c:v>16.883</c:v>
              </c:pt>
              <c:pt idx="4">
                <c:v>17.84301</c:v>
              </c:pt>
              <c:pt idx="5">
                <c:v>17.50298</c:v>
              </c:pt>
              <c:pt idx="6">
                <c:v>20.346</c:v>
              </c:pt>
              <c:pt idx="7">
                <c:v>14.871</c:v>
              </c:pt>
              <c:pt idx="8">
                <c:v>16.68899</c:v>
              </c:pt>
              <c:pt idx="9">
                <c:v>15.78201</c:v>
              </c:pt>
              <c:pt idx="10">
                <c:v>16.52996</c:v>
              </c:pt>
              <c:pt idx="11">
                <c:v>15.72801</c:v>
              </c:pt>
            </c:numLit>
          </c:val>
        </c:ser>
        <c:ser>
          <c:idx val="1"/>
          <c:order val="1"/>
          <c:tx>
            <c:v>Sold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12"/>
              <c:pt idx="0">
                <c:v>2023-01</c:v>
              </c:pt>
              <c:pt idx="1">
                <c:v>2023-04</c:v>
              </c:pt>
              <c:pt idx="2">
                <c:v>2023-07</c:v>
              </c:pt>
              <c:pt idx="3">
                <c:v>2023-10</c:v>
              </c:pt>
              <c:pt idx="4">
                <c:v>2024-01</c:v>
              </c:pt>
              <c:pt idx="5">
                <c:v>2024-04</c:v>
              </c:pt>
              <c:pt idx="6">
                <c:v>2024-07</c:v>
              </c:pt>
              <c:pt idx="7">
                <c:v>2024-10</c:v>
              </c:pt>
              <c:pt idx="8">
                <c:v>2025-01</c:v>
              </c:pt>
              <c:pt idx="9">
                <c:v>2025-04</c:v>
              </c:pt>
              <c:pt idx="10">
                <c:v>2025-07</c:v>
              </c:pt>
              <c:pt idx="11">
                <c:v>2025-10</c:v>
              </c:pt>
            </c:strLit>
          </c:cat>
          <c:val>
            <c:numLit>
              <c:formatCode>0.0</c:formatCode>
              <c:ptCount val="12"/>
              <c:pt idx="0">
                <c:v>17.699</c:v>
              </c:pt>
              <c:pt idx="1">
                <c:v>13.306</c:v>
              </c:pt>
              <c:pt idx="2">
                <c:v>18.075</c:v>
              </c:pt>
              <c:pt idx="3">
                <c:v>16.53</c:v>
              </c:pt>
              <c:pt idx="4">
                <c:v>16.306</c:v>
              </c:pt>
              <c:pt idx="5">
                <c:v>16.291</c:v>
              </c:pt>
              <c:pt idx="6">
                <c:v>16.902</c:v>
              </c:pt>
              <c:pt idx="7">
                <c:v>12.729</c:v>
              </c:pt>
              <c:pt idx="8">
                <c:v>12.805</c:v>
              </c:pt>
              <c:pt idx="9">
                <c:v>12.883</c:v>
              </c:pt>
              <c:pt idx="10">
                <c:v>12.363</c:v>
              </c:pt>
              <c:pt idx="11">
                <c:v>13.073</c:v>
              </c:pt>
            </c:numLit>
          </c:val>
        </c:ser>
        <c:ser>
          <c:idx val="2"/>
          <c:order val="2"/>
          <c:tx>
            <c:v>Lost</c:v>
          </c:tx>
          <c:spPr>
            <a:solidFill xmlns:a="http://schemas.openxmlformats.org/drawingml/2006/main">
              <a:srgbClr val="D64545"/>
            </a:solidFill>
          </c:spPr>
          <c:cat>
            <c:strLit>
              <c:ptCount val="12"/>
              <c:pt idx="0">
                <c:v>2023-01</c:v>
              </c:pt>
              <c:pt idx="1">
                <c:v>2023-04</c:v>
              </c:pt>
              <c:pt idx="2">
                <c:v>2023-07</c:v>
              </c:pt>
              <c:pt idx="3">
                <c:v>2023-10</c:v>
              </c:pt>
              <c:pt idx="4">
                <c:v>2024-01</c:v>
              </c:pt>
              <c:pt idx="5">
                <c:v>2024-04</c:v>
              </c:pt>
              <c:pt idx="6">
                <c:v>2024-07</c:v>
              </c:pt>
              <c:pt idx="7">
                <c:v>2024-10</c:v>
              </c:pt>
              <c:pt idx="8">
                <c:v>2025-01</c:v>
              </c:pt>
              <c:pt idx="9">
                <c:v>2025-04</c:v>
              </c:pt>
              <c:pt idx="10">
                <c:v>2025-07</c:v>
              </c:pt>
              <c:pt idx="11">
                <c:v>2025-10</c:v>
              </c:pt>
            </c:strLit>
          </c:cat>
          <c:val>
            <c:numLit>
              <c:formatCode>0.0</c:formatCode>
              <c:ptCount val="12"/>
              <c:pt idx="0">
                <c:v>0</c:v>
              </c:pt>
              <c:pt idx="1">
                <c:v>0.029</c:v>
              </c:pt>
              <c:pt idx="2">
                <c:v>0.37901</c:v>
              </c:pt>
              <c:pt idx="3">
                <c:v>0.353</c:v>
              </c:pt>
              <c:pt idx="4">
                <c:v>1.53701</c:v>
              </c:pt>
              <c:pt idx="5">
                <c:v>1.21198</c:v>
              </c:pt>
              <c:pt idx="6">
                <c:v>3.444</c:v>
              </c:pt>
              <c:pt idx="7">
                <c:v>2.142</c:v>
              </c:pt>
              <c:pt idx="8">
                <c:v>3.88399</c:v>
              </c:pt>
              <c:pt idx="9">
                <c:v>2.89901</c:v>
              </c:pt>
              <c:pt idx="10">
                <c:v>4.16696</c:v>
              </c:pt>
              <c:pt idx="11">
                <c:v>2.65501</c:v>
              </c:pt>
            </c:numLit>
          </c:val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WAPE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Gradient Boosting</c:v>
              </c:pt>
              <c:pt idx="1">
                <c:v>Seasonal Naive</c:v>
              </c:pt>
              <c:pt idx="2">
                <c:v>8-Week Moving Average</c:v>
              </c:pt>
            </c:strLit>
          </c:cat>
          <c:val>
            <c:numLit>
              <c:formatCode>0.0</c:formatCode>
              <c:ptCount val="3"/>
              <c:pt idx="0">
                <c:v>15.86064166666667</c:v>
              </c:pt>
              <c:pt idx="1">
                <c:v>20.396810000000006</c:v>
              </c:pt>
              <c:pt idx="2">
                <c:v>25.698356666666673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Forecast (K units)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  <c:pt idx="6">
                <c:v>2026-07</c:v>
              </c:pt>
              <c:pt idx="7">
                <c:v>2026-08</c:v>
              </c:pt>
              <c:pt idx="8">
                <c:v>2026-09</c:v>
              </c:pt>
              <c:pt idx="9">
                <c:v>2026-10</c:v>
              </c:pt>
              <c:pt idx="10">
                <c:v>2026-11</c:v>
              </c:pt>
              <c:pt idx="11">
                <c:v>2026-12</c:v>
              </c:pt>
            </c:strLit>
          </c:cat>
          <c:val>
            <c:numLit>
              <c:formatCode>0.0</c:formatCode>
              <c:ptCount val="12"/>
              <c:pt idx="0">
                <c:v>18.594899</c:v>
              </c:pt>
              <c:pt idx="1">
                <c:v>17.00659</c:v>
              </c:pt>
              <c:pt idx="2">
                <c:v>23.51857</c:v>
              </c:pt>
              <c:pt idx="3">
                <c:v>17.390907</c:v>
              </c:pt>
              <c:pt idx="4">
                <c:v>17.401864</c:v>
              </c:pt>
              <c:pt idx="5">
                <c:v>23.271833</c:v>
              </c:pt>
              <c:pt idx="6">
                <c:v>17.728404</c:v>
              </c:pt>
              <c:pt idx="7">
                <c:v>20.688385999999998</c:v>
              </c:pt>
              <c:pt idx="8">
                <c:v>17.623041</c:v>
              </c:pt>
              <c:pt idx="9">
                <c:v>16.368719</c:v>
              </c:pt>
              <c:pt idx="10">
                <c:v>30.686362999999997</c:v>
              </c:pt>
              <c:pt idx="11">
                <c:v>22.163352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WOS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6"/>
              <c:pt idx="0">
                <c:v>Knitwear</c:v>
              </c:pt>
              <c:pt idx="1">
                <c:v>Outerwear</c:v>
              </c:pt>
              <c:pt idx="2">
                <c:v>Tops</c:v>
              </c:pt>
              <c:pt idx="3">
                <c:v>Bottoms</c:v>
              </c:pt>
              <c:pt idx="4">
                <c:v>Dresses</c:v>
              </c:pt>
              <c:pt idx="5">
                <c:v>Accessories</c:v>
              </c:pt>
            </c:strLit>
          </c:cat>
          <c:val>
            <c:numLit>
              <c:formatCode>0.0</c:formatCode>
              <c:ptCount val="6"/>
              <c:pt idx="0">
                <c:v>5.0779</c:v>
              </c:pt>
              <c:pt idx="1">
                <c:v>5.375499999999999</c:v>
              </c:pt>
              <c:pt idx="2">
                <c:v>5.4955</c:v>
              </c:pt>
              <c:pt idx="3">
                <c:v>5.956</c:v>
              </c:pt>
              <c:pt idx="4">
                <c:v>6.015700000000001</c:v>
              </c:pt>
              <c:pt idx="5">
                <c:v>6.3165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Investment (TRY M)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8"/>
              <c:pt idx="0">
                <c:v>DRE-003</c:v>
              </c:pt>
              <c:pt idx="1">
                <c:v>DRE-002</c:v>
              </c:pt>
              <c:pt idx="2">
                <c:v>DRE-008</c:v>
              </c:pt>
              <c:pt idx="3">
                <c:v>BOT-004</c:v>
              </c:pt>
              <c:pt idx="4">
                <c:v>OUT-009</c:v>
              </c:pt>
              <c:pt idx="5">
                <c:v>TOP-005</c:v>
              </c:pt>
              <c:pt idx="6">
                <c:v>KNI-008</c:v>
              </c:pt>
              <c:pt idx="7">
                <c:v>KNI-009</c:v>
              </c:pt>
            </c:strLit>
          </c:cat>
          <c:val>
            <c:numLit>
              <c:formatCode>0.0</c:formatCode>
              <c:ptCount val="8"/>
              <c:pt idx="0">
                <c:v>0.41856856</c:v>
              </c:pt>
              <c:pt idx="1">
                <c:v>0.4179504</c:v>
              </c:pt>
              <c:pt idx="2">
                <c:v>0.3693525</c:v>
              </c:pt>
              <c:pt idx="3">
                <c:v>0.32070192</c:v>
              </c:pt>
              <c:pt idx="4">
                <c:v>0.29084679999999996</c:v>
              </c:pt>
              <c:pt idx="5">
                <c:v>0.23683404</c:v>
              </c:pt>
              <c:pt idx="6">
                <c:v>0.19766879999999998</c:v>
              </c:pt>
              <c:pt idx="7">
                <c:v>0.1491168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Purchase (TRY M)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8"/>
              <c:pt idx="0">
                <c:v>SUP-001</c:v>
              </c:pt>
              <c:pt idx="1">
                <c:v>SUP-007</c:v>
              </c:pt>
              <c:pt idx="2">
                <c:v>SUP-005</c:v>
              </c:pt>
              <c:pt idx="3">
                <c:v>SUP-006</c:v>
              </c:pt>
              <c:pt idx="4">
                <c:v>SUP-002</c:v>
              </c:pt>
              <c:pt idx="5">
                <c:v>SUP-003</c:v>
              </c:pt>
              <c:pt idx="6">
                <c:v>SUP-004</c:v>
              </c:pt>
              <c:pt idx="7">
                <c:v>SUP-008</c:v>
              </c:pt>
            </c:strLit>
          </c:cat>
          <c:val>
            <c:numLit>
              <c:formatCode>0.0</c:formatCode>
              <c:ptCount val="8"/>
              <c:pt idx="0">
                <c:v>65.37911835999999</c:v>
              </c:pt>
              <c:pt idx="1">
                <c:v>60.62398812</c:v>
              </c:pt>
              <c:pt idx="2">
                <c:v>56.54697182</c:v>
              </c:pt>
              <c:pt idx="3">
                <c:v>51.98740256</c:v>
              </c:pt>
              <c:pt idx="4">
                <c:v>39.38756206</c:v>
              </c:pt>
              <c:pt idx="5">
                <c:v>38.06718488</c:v>
              </c:pt>
              <c:pt idx="6">
                <c:v>34.80103332</c:v>
              </c:pt>
              <c:pt idx="7">
                <c:v>26.896810440000003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 (TRY M)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Base</c:v>
              </c:pt>
              <c:pt idx="1">
                <c:v>Growth</c:v>
              </c:pt>
              <c:pt idx="2">
                <c:v>Lean</c:v>
              </c:pt>
              <c:pt idx="3">
                <c:v>Resilience</c:v>
              </c:pt>
            </c:strLit>
          </c:cat>
          <c:val>
            <c:numLit>
              <c:formatCode>0.0</c:formatCode>
              <c:ptCount val="4"/>
              <c:pt idx="0">
                <c:v>397.83212374</c:v>
              </c:pt>
              <c:pt idx="1">
                <c:v>457.50694226</c:v>
              </c:pt>
              <c:pt idx="2">
                <c:v>358.04891136000003</c:v>
              </c:pt>
              <c:pt idx="3">
                <c:v>417.72372991000003</c:v>
              </c:pt>
            </c:numLit>
          </c:val>
        </c:ser>
        <c:ser>
          <c:idx val="1"/>
          <c:order val="1"/>
          <c:tx>
            <c:v>Inventory investment (TRY M)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4"/>
              <c:pt idx="0">
                <c:v>Base</c:v>
              </c:pt>
              <c:pt idx="1">
                <c:v>Growth</c:v>
              </c:pt>
              <c:pt idx="2">
                <c:v>Lean</c:v>
              </c:pt>
              <c:pt idx="3">
                <c:v>Resilience</c:v>
              </c:pt>
            </c:strLit>
          </c:cat>
          <c:val>
            <c:numLit>
              <c:formatCode>0.0</c:formatCode>
              <c:ptCount val="4"/>
              <c:pt idx="0">
                <c:v>5.3293229</c:v>
              </c:pt>
              <c:pt idx="1">
                <c:v>8.18008228</c:v>
              </c:pt>
              <c:pt idx="2">
                <c:v>3.78807104</c:v>
              </c:pt>
              <c:pt idx="3">
                <c:v>13.5158969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F84CF7-2B0E-413F-9ACC-6255A417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PROFESSIONAL 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F4D16-6854-4D50-BDF2-60240441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E-Commerce Demand Forecasting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&amp; Inventory Optimization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3DB5C-118A-4DF0-AB28-28BCB30B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7"/>
                </a:solidFill>
              </a:defRPr>
            </a:pPr>
            <a:r>
              <a:rPr sz="1500" b="0">
                <a:solidFill>
                  <a:srgbClr val="D7E3F7"/>
                </a:solidFill>
              </a:rPr>
              <a:t>Statistical forecasting, machine learning, SQL, Power BI, and inventory decision science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8D404-1E6C-4F54-AC00-3081B1A6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FD00C-F0DE-4B83-B0D6-C4978EF0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Murat Miraç Gedik  | 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FF64B-8BDE-41D2-B0F6-5864CEBF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DB"/>
                </a:solidFill>
              </a:defRPr>
            </a:pPr>
            <a:r>
              <a:rPr sz="750" b="0">
                <a:solidFill>
                  <a:srgbClr val="B9C7DB"/>
                </a:solidFill>
              </a:rPr>
              <a:t>MonacoLuxe-inspired synthetic portfolio data | TRY | 2023-2026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3127D-2082-4726-A73E-1B46835B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476500" cy="3429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16834-51B2-49D1-BE82-ACB0B31C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BAE23-1F8A-47EE-9B04-673AFD2C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7"/>
                </a:solidFill>
              </a:defRPr>
            </a:pPr>
            <a:r>
              <a:rPr sz="975" b="0">
                <a:solidFill>
                  <a:srgbClr val="D7E3F7"/>
                </a:solidFill>
              </a:rPr>
              <a:t>SKUs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6DA4C-7358-4EBB-8B8E-0B2B1335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157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AA1C7-612D-4386-8F34-F83B2E52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7"/>
                </a:solidFill>
              </a:defRPr>
            </a:pPr>
            <a:r>
              <a:rPr sz="975" b="0">
                <a:solidFill>
                  <a:srgbClr val="D7E3F7"/>
                </a:solidFill>
              </a:rPr>
              <a:t>historical 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F886F-BC25-4557-94C2-0EC9A90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52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1D4CA-B7A8-47AF-98B8-10638E5D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7"/>
                </a:solidFill>
              </a:defRPr>
            </a:pPr>
            <a:r>
              <a:rPr sz="975" b="0">
                <a:solidFill>
                  <a:srgbClr val="D7E3F7"/>
                </a:solidFill>
              </a:rPr>
              <a:t>forecast weeks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55569-1E2A-45B9-B2B3-74FB5419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99206-47BE-49B4-ACCE-5BC3CC14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7"/>
                </a:solidFill>
              </a:defRPr>
            </a:pPr>
            <a:r>
              <a:rPr sz="975" b="0">
                <a:solidFill>
                  <a:srgbClr val="D7E3F7"/>
                </a:solidFill>
              </a:rPr>
              <a:t>inventory scenarios</a:t>
            </a:r>
          </a:p>
        </p:txBody>
      </p:sp>
    </p:spTree>
    <p:extLst>
      <p:ext uri="{BB962C8B-B14F-4D97-AF65-F5344CB8AC3E}">
        <p14:creationId xmlns:p14="http://schemas.microsoft.com/office/powerpoint/2010/main" val="652978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64C1431-A713-461D-AA24-5B1E5562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365343-D11D-4E8A-B773-C84F808C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Executive Summary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06C6E35-E0AA-41A4-96B9-95E69897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The decision case in four numbers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A3EC3-8A60-4BDB-8F2D-CEC3A45D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4B728-F095-4899-803D-61B45E62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94847-C12C-4552-8C58-7E87330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7051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74635-32A9-417E-A8E4-6199C946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705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7BF41-038F-46D7-80A5-5EB92F5F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HISTORICAL 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05F9B-C0D6-4E66-AFC6-630C27E2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TRY 891.7M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A50C4-5F0A-4241-9522-31F12FDC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2023-2025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36B20-6EAD-4672-8337-5763B885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27051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7F3DB-145B-460D-A7C3-14CF1CBD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2705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ADFAA-9619-40B9-A4E3-48AD52C3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383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2026 FORECAST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2667C-6A56-416D-B749-0D693E65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431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TRY 397.8M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CADE4-2573-4C46-AC51-BC403AF6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Base scenario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F0517-4D96-4A58-AAD5-D4331F35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27051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EE108-317E-4C64-AB4D-62737E84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2705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64F23-F72E-4A8C-8D6D-4CE2BED5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383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CHAMPION WAPE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D86FB-1E4D-49BD-B263-889FEB40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A558"/>
                </a:solidFill>
              </a:defRPr>
            </a:pPr>
            <a:r>
              <a:rPr sz="2100" b="1">
                <a:solidFill>
                  <a:srgbClr val="18A558"/>
                </a:solidFill>
              </a:rPr>
              <a:t>15.7%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56B40-B956-4D5D-B254-FBF9EC89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60 SKU backtest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9CEE1-0814-43CA-81B3-8B9D5B2E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9700"/>
            <a:ext cx="28194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E2810-25E7-48F4-A436-1F81D530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9700"/>
            <a:ext cx="2819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06F2B-EF78-4C2E-879A-D36F0773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INVENTORY INVESTMENT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B82E5-F998-4536-9AE3-E61193E5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4310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TRY 5.3M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BFADC9-4C85-4B62-A1E3-09FCD1A4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 SKUs to order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F26945-F931-48A0-A280-772873AB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113919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91497-7F84-413E-A28D-AA67695F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8CDEB-7949-40BA-8C40-0D2A49C7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Management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5EEF1F-C3AB-4D5D-8F1F-4D81CC64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10299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The base plan forecasts TRY 397.8M of 2026 revenue and requires TRY 5.3M of inventory investment. 10 SKUs require immediate ordering. Forecast governance selects the lowest-WAPE model for every SKU.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3B20A9-4657-4DEF-94D6-75B0931D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52613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5029373-80BD-4900-B443-FFDF12CF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956955-3D89-4FA9-B494-673C2BEB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Business Problem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A03BE7B-526F-4A00-8075-39749276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Why retrospective reporting is not enough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FA3DE-319C-4909-B0EF-747A0C7A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8C406-1B5A-416E-A4A5-BB89FD07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75542-4414-455E-B966-CEFCCA3E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562350" cy="4095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1A1E6-C6FB-4CB3-9F53-12DF183B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AE934-B75D-4AA3-93BA-2CD6D056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</a:defRPr>
            </a:pPr>
            <a:r>
              <a:rPr sz="1725" b="1">
                <a:solidFill>
                  <a:srgbClr val="0B132B"/>
                </a:solidFill>
              </a:rPr>
              <a:t>Demand uncertainty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1D7F1-35A2-4234-8637-1BB9FCE2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Fashion demand shifts with seasonality, campaigns, and product lifecycle.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A4A48-4041-4ED7-92BC-E09CAFE6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24000"/>
            <a:ext cx="3562350" cy="4095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D6B0D-C2CC-4663-B676-2AF58059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0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79604-4F2A-4C47-A597-7FE71287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</a:defRPr>
            </a:pPr>
            <a:r>
              <a:rPr sz="1725" b="1">
                <a:solidFill>
                  <a:srgbClr val="0B132B"/>
                </a:solidFill>
              </a:rPr>
              <a:t>Inventory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95139-F6FB-47FB-862E-09FE40DB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Excess stock locks working capital; insufficient stock creates lost sales.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E18B1-EED8-4DEA-ADD1-1F4367DD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562350" cy="4095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9ABE8-B1C4-48F8-BBC8-D0954D76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4545"/>
                </a:solidFill>
              </a:defRPr>
            </a:pPr>
            <a:r>
              <a:rPr sz="2550" b="1">
                <a:solidFill>
                  <a:srgbClr val="D6454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77A67-B303-487A-9023-5CC50982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</a:defRPr>
            </a:pPr>
            <a:r>
              <a:rPr sz="1725" b="1">
                <a:solidFill>
                  <a:srgbClr val="0B132B"/>
                </a:solidFill>
              </a:rPr>
              <a:t>Decision gap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6F220-D1AC-4F4E-AB43-4FC7C3D7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Historical KPIs do not answer how much to order or when to order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B3D03-EA9F-467D-8004-5D4988D4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222399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B958ED4-E669-4B94-AD4E-FFA5EE67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3200B6-9FEE-496B-B990-3AA11880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Project Objectives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CF5F20D-6319-49E3-9760-D4BC65F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What the analytical platform must deliver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74CE-BE66-4ABE-8893-CEFCCACB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ABFBB-F623-41AD-A532-7BCE7E69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66A82-BC53-46A9-9576-359BF7B3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5816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4F800-1B19-4C7C-B906-10DEF453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6D9D5-AAA2-476B-872B-D2B32FF7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954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Forecast demand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16D7A-132E-46EC-8F59-C66425D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479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Produce a 52-week baseline and 80% prediction interval for every SKU.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59A74-7CAB-43AA-9AEF-EA232F9C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5816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1A786-3286-4311-8687-5F0F85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CBF4"/>
                </a:solidFill>
              </a:defRPr>
            </a:pPr>
            <a:r>
              <a:rPr sz="1800" b="1">
                <a:solidFill>
                  <a:srgbClr val="6DCBF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EFF5F-A847-4199-A9BF-A62855F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Govern 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AF68B-D168-46D7-A5CF-87E0FE65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Select the champion using WAPE, MAE, RMSE, and bias on a holdout period.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2C696-8E27-498F-8149-A32C415F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5816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8BA5D-7097-49B2-87EC-B2EDB911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03ED8-92B9-4E81-9E47-FE4B6BD1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Optimize 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DE974-4761-4914-B934-41E2E0F2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Combine safety stock, reorder point, EOQ, MOQ, and case-pack constraints.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AA611-1B10-4D34-B309-C7535647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55816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1956E-69BB-497A-9B6D-C7E577F6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A558"/>
                </a:solidFill>
              </a:defRPr>
            </a:pPr>
            <a:r>
              <a:rPr sz="1800" b="1">
                <a:solidFill>
                  <a:srgbClr val="18A558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F3474-69E8-4BC6-89B6-AE5931AD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62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Deliver decisions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CC696-4815-4D9D-9190-ACA3C392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Distribute insights through Power BI, Excel, SQL, PDF, and PowerPoint.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16BB6-9269-489D-8E3F-B27D5FB3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39599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0C0ECA0-0291-410C-8579-4351A04C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5C3691-6A4E-4347-A5E7-9EF68B5C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Data Landscape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0D83BF7-3DA7-4F9C-95B0-FD30BA6E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Three years of demand, commercial, inventory, promotion, and supplier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11A6E-BFE4-47AB-8673-7B8DF76A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12DBF-0428-495F-9979-8530AEB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6A1F3-0C6A-491B-8570-30DED0A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0603C-DA97-4CE2-B1FD-8D38D0CA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906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3C261-4DAF-4980-8E9A-90E1E359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906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Grain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E4049-9249-49D6-A84D-4B4D286A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906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DB437-EBEE-49A2-B4BD-AE7143FC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906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Decision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5F7A8-9FA3-4211-9948-9CB0D04F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1FC9B-E409-46F6-AF80-81E9D8D6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145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Weekly sales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D5943-F34A-496E-A69E-662945A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145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Week-SKU-channel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089E7-2E2E-4FEC-90C5-E038F14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145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28,208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B9C3E-E637-478E-A50C-E1D022DE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145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Demand, revenue, margin, discount, lost sales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A59F3-395E-4EA5-9BFD-3AB60673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B304A-2E48-4CB9-859C-B801303F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384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Inventory snapshot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2ED0C-D67C-4EE0-AED4-5EDD28CE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384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Week-SKU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9F5B8-3AFC-4723-B4D4-00965463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9,420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8704C-D56E-4890-97E9-DDE52946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384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On-hand, on-order, WOS, stockout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3BD26-8DE9-4043-96CA-201DDD53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98F3A-5326-424F-85FE-FC85F1B9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623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Purchase orders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5EFD11-A066-4B79-9009-C4633B7F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PO-SKU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7B2E3-5679-4B79-B8FD-4ABFA799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1,208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9EB44-2E18-4F30-8C72-3E5B6503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623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Quantity, cost, lead time, on-time delivery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D5465C-8FF6-4E5F-BF1A-A2A58BF8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C59CE2-A6DE-4325-A4EC-A8EBC6BC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862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Forecast 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4CD90-EAF1-40E0-9133-FE53FF6F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862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Forecast week-SKU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7A386-9611-4051-BEE1-B330C337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3,120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F716B-D9B7-4E40-8529-86534A25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862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Forecast, interval, model, expected revenue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BC799D-3740-402A-BD8F-604A33FC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8166F7-B820-4C1A-ACAB-EEE91597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01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Inventory scenarios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1F0C38-CD29-4A63-B8BF-69F62662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01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Scenario-SKU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E72E90-AB02-48E9-94E7-26352390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01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240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ECF122-41CD-4DA0-8D20-6C3B459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Safety stock, ROP, EOQ, investment,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1221CF-8197-49A3-A226-44E74EF8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0697447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1D60E12-7058-4E1D-9E84-F565B4D8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FF68DE-C31C-42EB-A12B-C2AE5259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End-to-End Analytics Architecture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E49ECA0-3979-4AD9-9079-3912C102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A reproducible path from source data to management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81BD5-50EA-41B3-8BC5-9A1D3236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95118-C31C-4586-BBFD-D1AA03F1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BB090-F60A-4B7D-B630-6AA796BD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000250" cy="2286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953F6-8C25-4C91-A7F0-CFD79C37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C7121-DAD9-4152-BBCE-81DAC97D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Synthetic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BF4F1-27D3-40FC-974C-2A93DCC3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Python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3-year generator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BC191-4B70-4D8E-8615-AFAB4149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0"/>
            <a:ext cx="2476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9BE87-F282-48CB-9388-5037B33B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2000250" cy="2286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51045-C8E5-4E42-B8E6-0C620DC6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0DD11-350D-4B62-8226-0C4462D1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SQL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91EB6-3047-4AF4-ACFC-2948C074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00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SQLite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13 tables + 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C90DD-0721-4619-8654-542AA2B0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476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7BB49-EEB4-49AC-9CE6-510353FF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2000250" cy="2286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D72F1-9F8B-4693-ADE6-31BA96A2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855C9-19E1-4F74-8F5C-59C51521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Forecast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08312-79E0-43FF-BC5E-E795E3C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00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 models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SKU champion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C99C4-F98D-45F6-84B6-A1FA7A72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2476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26E50-A033-4B56-B156-92FA5EE3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2000250" cy="2286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BC00C-8414-43D6-A765-966A585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FD92D-0F13-4983-91AA-D4C2346F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76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Inventory Engine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B8A08-ABE1-47D1-B314-88BCEAF7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ROP + EOQ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 scenarios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E6EF7-CAD9-453E-BCA0-4C49AF5D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2476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6155F-1675-4B14-8DFE-6DCD4FA8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33600"/>
            <a:ext cx="2000250" cy="2286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C9CB82-0410-46F7-B9F6-FD4ED512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558"/>
                </a:solidFill>
              </a:defRPr>
            </a:pPr>
            <a:r>
              <a:rPr sz="1350" b="1">
                <a:solidFill>
                  <a:srgbClr val="18A558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F64BE-7E1E-4452-930D-C6E2DC0A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76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BI 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DE166-5E19-4DC8-B188-9128AC80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00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Power BI + Excel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PDF + PPT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556F23-741F-4FB1-9B54-F29495F6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1CA97D-5E4A-469C-B1A3-89346361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0BF56F-BB34-4432-9962-2735A47D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Reproducibility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8410E6-B534-440A-A3CE-4CC46ADE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One command regenerates the data, trains models, optimizes inventory, rebuilds the SQL database, and runs validation controls.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2BC605-6060-484C-A3A2-57FBEDF6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53042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6A2C303-81AA-4F0A-868D-A9984692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0AEF47-1D03-4851-ACA3-CCDFA66B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Relational Data Model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E9ED237-D141-4A25-89CC-887BA199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A calendar-centered semantic layer for time-aware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2C2F6-7373-4DE9-9E83-BA70AF3F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892B9-50F5-4E8D-99B2-F9B2A19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6E056-F441-49BE-8FC7-B6537B80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9525">
            <a:solidFill>
              <a:srgbClr val="0B13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EAC72-20B1-4E06-93DB-8435852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dim_calendar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6858A-6348-462B-ACC5-46129B07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DCBF4"/>
                </a:solidFill>
              </a:defRPr>
            </a:pPr>
            <a:r>
              <a:rPr sz="975" b="0">
                <a:solidFill>
                  <a:srgbClr val="6DCBF4"/>
                </a:solidFill>
              </a:rPr>
              <a:t>Week • Month • Quarter • Year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6F7D5-6AE4-464B-95F2-27ABA2F0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7B38B-28A5-4805-BD00-89B1E7BE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B"/>
                </a:solidFill>
              </a:defRPr>
            </a:pPr>
            <a:r>
              <a:rPr sz="1350" b="1">
                <a:solidFill>
                  <a:srgbClr val="0B132B"/>
                </a:solidFill>
              </a:rPr>
              <a:t>fact_weekly_sales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78D12-837E-41F9-BB03-55BA302C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Demand • Revenue • Profit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6B9C6-E362-44D6-91FB-3BAE79B4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62175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8BC44-5152-4C8A-87A6-07DB8930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6F581-517A-4521-8C91-3F9AD67E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B"/>
                </a:solidFill>
              </a:defRPr>
            </a:pPr>
            <a:r>
              <a:rPr sz="1350" b="1">
                <a:solidFill>
                  <a:srgbClr val="0B132B"/>
                </a:solidFill>
              </a:rPr>
              <a:t>fact_inventory_snapshot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E6EC4-B8D9-4CB7-8A69-D3DBECF9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Stock • WOS • Stockout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9A2B1-088A-4CBC-BCF5-8DCA3CFF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72025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9A331-7953-41C4-911A-CD98B159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6210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E56A4-FE80-4972-A5B9-DC064EBF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B"/>
                </a:solidFill>
              </a:defRPr>
            </a:pPr>
            <a:r>
              <a:rPr sz="1350" b="1">
                <a:solidFill>
                  <a:srgbClr val="0B132B"/>
                </a:solidFill>
              </a:rPr>
              <a:t>forecast_results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6B6C0-8D86-4433-8C26-F534B47D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Forecast • Interval •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A2E60-9DFD-4E28-982F-5A2B69FB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62175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2B6F5-0324-4C91-90AF-2BAEA594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7195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AAD4F-B0E6-4340-A4D8-9EFF9FBF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19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B"/>
                </a:solidFill>
              </a:defRPr>
            </a:pPr>
            <a:r>
              <a:rPr sz="1350" b="1">
                <a:solidFill>
                  <a:srgbClr val="0B132B"/>
                </a:solidFill>
              </a:rPr>
              <a:t>replenishment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358AA-26F9-4B25-933B-688F235E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95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ROP • EOQ •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A9BC5-28F3-47E3-9598-6EFE449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72025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B1DE4-E72C-417C-8C9B-68B091A1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Single-direction filtering • Time intelligence • Reliable KPI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1DEB8-278A-4703-8498-48F208BA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944950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4556582-C5A2-42D6-9536-C5FA39AA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FF5673-FA06-4C3B-947B-6E88D6E8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Historical Performance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BCE191C-B40E-4334-A520-F5C6BDE1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Revenue scale, category mix, and demand fulfillment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1E564-B4F5-4EA2-9118-4157FF4A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A6415-CB96-41F3-AA15-C4AC356E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FFBB6-623A-46C0-946D-055379BE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8389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4F61E-E2AB-44FA-BE89-A521314E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41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Monthly Net Revenue | 2023-2025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CBC20-82FC-4563-9287-0DA92F80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64198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17f53a9833461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0D090-A352-49EE-AB08-EF657CC8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267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C1670-BAB8-4553-9DD6-31E43972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267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0DF2F-6093-4232-85B7-3FDFCFC4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HISTORICAL 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6741E-B6A0-4AF6-B4B1-6660B052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6215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TRY 891.7M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F32D0-4218-483C-B672-0E00E8BB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2023-2025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B89FB-8658-402F-9E77-16AF82D9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42672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C5CE2-FA7D-4566-9D36-0EBD27D1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49A2B-A1DA-4F43-B2D0-3D440FF0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558"/>
                </a:solidFill>
              </a:defRPr>
            </a:pPr>
            <a:r>
              <a:rPr sz="1200" b="1">
                <a:solidFill>
                  <a:srgbClr val="18A558"/>
                </a:solidFill>
              </a:rPr>
              <a:t>Gross Margin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C6763-DF46-47BC-89C7-BBB06FFB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58.4% weighted portfolio 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3D437-8D73-4AE5-AFE7-F2FF9EC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4267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0FF16-9A58-4FD8-ADAA-B13291EE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C0B32-279B-4E6E-A63E-2B09F87D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Demand Fulfillment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A58A9-8E9A-4A83-A54F-4F3F0DB0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7205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86.9% fulfilled; lost-sales opportunity remains visible.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F81EF-694C-49DC-8E87-B1A1B9E5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419204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54A0D3A-EA9A-4DB6-88D8-DBC9F195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95AF7E-B0BE-4EB1-8BFA-E69CDF29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Demand Seasonality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706DA9E-CACF-462C-ACFA-09660BAD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How promotions and seasonal patterns shape volume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531F9-2124-4D2F-8B42-E0E2BF5D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57A18-464A-40FE-B566-90D8A543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55686-8647-49B2-83B0-4EC01EF2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8CCEE-F1F7-46FE-B1E5-C04F15D7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Quarterly Demand, Sales, and Lost Sales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4D79B-E614-4763-88A9-367D0241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62cc4502a94ee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37074-AF55-4E0A-996A-8A34F664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5543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53A09-1109-44BF-AA5F-44A2ACE9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9385E-CDDF-40F5-AF4A-5D46C392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Demand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2F7DE-EC6C-4DE7-A3DF-FAF63F37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5181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Campaign and seasonal weeks create visible demand peaks.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2C3B8-51D5-4C24-ACFF-9A83CDFE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48300"/>
            <a:ext cx="5676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5682C-F8DE-435B-882F-2E96B00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483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2EB53-F1EC-4D00-A834-9D1CFD6B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19750"/>
            <a:ext cx="531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545"/>
                </a:solidFill>
              </a:defRPr>
            </a:pPr>
            <a:r>
              <a:rPr sz="1200" b="1">
                <a:solidFill>
                  <a:srgbClr val="D64545"/>
                </a:solidFill>
              </a:rPr>
              <a:t>Inventory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E3475-EBE8-44D3-A6F5-56740DFD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43600"/>
            <a:ext cx="53149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82096 estimated lost units are included in planning.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078B7-841F-4C5B-9ABB-341C6E04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5555672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91E7C24-6047-4C72-BD6B-24892071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5BA424-1886-4AFB-BEEB-C0A13FE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Forecasting Approach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F8F2D24-F356-4747-9425-B87E54E1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Three models, one governed champion per SKU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54BF6-A731-4808-8662-40D31D8E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EC4EF-B872-4FAF-9B04-81EA345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8AE32-6D49-4AAD-95C5-8BBC8F51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35623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807B1-79D2-4CC3-A764-A7206A61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EEFE6-7919-4E66-B848-7430EFAC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B"/>
                </a:solidFill>
              </a:defRPr>
            </a:pPr>
            <a:r>
              <a:rPr sz="1425" b="1">
                <a:solidFill>
                  <a:srgbClr val="0B132B"/>
                </a:solidFill>
              </a:rPr>
              <a:t>Feature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83868-91AA-4BCA-8614-1FCDD81E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Calendar, promotion, lag, and rolling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E10E8-D1B5-45D1-9FA3-201A46DC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66850"/>
            <a:ext cx="35623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45CDD-1088-4A85-A04E-93F28A58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BF598-63FC-4A4E-AAA5-CF82C3FD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57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B"/>
                </a:solidFill>
              </a:defRPr>
            </a:pPr>
            <a:r>
              <a:rPr sz="1425" b="1">
                <a:solidFill>
                  <a:srgbClr val="0B132B"/>
                </a:solidFill>
              </a:rPr>
              <a:t>13-week backtest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A08CF-40CC-4C11-9D02-CA763B81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Measure the latest holdout without future leakage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53857-4FEC-46AA-9C68-6DCF292C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5623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5A989-E56D-44B6-BEBC-94451014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FE283-FE4E-433A-B39B-B65EDF89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B"/>
                </a:solidFill>
              </a:defRPr>
            </a:pPr>
            <a:r>
              <a:rPr sz="1425" b="1">
                <a:solidFill>
                  <a:srgbClr val="0B132B"/>
                </a:solidFill>
              </a:rPr>
              <a:t>SKU-level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42F2A-95FE-4A8A-94D2-034F79B7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Choose the champion with the lowest WAPE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AE79E-A1AA-470E-941D-675C40A1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35623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0999C-3EDB-4D1A-8684-E6596655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CBF4"/>
                </a:solidFill>
              </a:defRPr>
            </a:pPr>
            <a:r>
              <a:rPr sz="1575" b="1">
                <a:solidFill>
                  <a:srgbClr val="6DCBF4"/>
                </a:solidFill>
              </a:rPr>
              <a:t>Seasonal Naive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C61D0-4B84-4ABF-BE61-B6EFED78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Same ISO week from prior year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5AECE-93D4-4302-B397-C51021C1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43300"/>
            <a:ext cx="35623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411C1-91BA-4E2B-87C0-83C9A727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</a:defRPr>
            </a:pPr>
            <a:r>
              <a:rPr sz="1575" b="1">
                <a:solidFill>
                  <a:srgbClr val="F59E0B"/>
                </a:solidFill>
              </a:rPr>
              <a:t>8-Week Moving Average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2E46F-7D95-49C8-98BC-4111C4F6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910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Blended short- and medium-term mean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76B9D-19B5-4397-8403-A8335EF8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35623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FD6F05-52C1-4178-B225-2E58C49F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A558"/>
                </a:solidFill>
              </a:defRPr>
            </a:pPr>
            <a:r>
              <a:rPr sz="1575" b="1">
                <a:solidFill>
                  <a:srgbClr val="18A558"/>
                </a:solidFill>
              </a:rPr>
              <a:t>Gradient Boosting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3770D8-31BC-49C1-80DB-904695A5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Non-linear demand relationships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8EEE1A-F5DB-45F2-AECB-202E49AB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20495338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68FE223-3390-48B3-AE00-B44C643C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672B90-08E5-4038-9670-5B8D91B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Model Performance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6097566-80BC-43BB-9989-A808F5A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Backtest evidence for model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11F86-C348-4790-84BB-003A5F4F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553DC-C3F6-4DFB-BBF2-40048FD5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67CBD-EC52-462A-9003-20050916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1912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A7316-2CCD-445A-9793-5F770C73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Average WAPE by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87928-9E38-41ED-8C31-8E260E2B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7721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40689c0cc747f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5AA6F-2AE3-4E98-B7D9-0B7AC229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933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4DA48-B8A1-4A5C-B953-2CB3132F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93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2BD42-B4DD-4837-AB90-AC8D1017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5735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AVERAGE CHAMPION WAPE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7E9D3-0F04-48A9-B0FB-9C9A8D2F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A558"/>
                </a:solidFill>
              </a:defRPr>
            </a:pPr>
            <a:r>
              <a:rPr sz="2100" b="1">
                <a:solidFill>
                  <a:srgbClr val="18A558"/>
                </a:solidFill>
              </a:rPr>
              <a:t>15.7%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B1A18-B78A-45FE-90C4-F770804C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455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Portfolio backtest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0A434-B67C-400F-A24C-4D9436E3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933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D0C6F-E82A-4201-805D-65C66FF5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0C8C9-086B-4F67-9C35-30B1DBAD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Champion Distribution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F26CB-8566-471F-A272-C0F5E5FC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Gradient Boosting: 55  •  Seasonal Naive: 5  •  8-Week Moving Average: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8C776-C428-4FBC-99DB-A23EA1A1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4933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C43D5-89F6-4170-B7C9-28132297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8155F-C859-4D48-B804-9EDC946A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3EF6C-8E04-42F0-AA06-5DADFD6C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101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The selected model, WAPE, and bias are persisted by SKU; the inventory engine reuses the same residual uncertainty.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FD7BB-E187-4C1F-AF5E-AE0C1B9C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0626410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11065AA-C840-49A6-909E-3890D721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860580-24A5-4418-88A4-F9291C6B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2026 Demand Forecast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821B53D-0AEA-4F22-9189-AFF7616F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A planning baseline with explicit uncertainty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28C62-B3EC-4B8A-8676-CDBE60F1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8E7BA-0DB8-4389-B04B-4B5CEA72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0C461-F26E-42E8-BB25-42482B00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78233-D17E-44CC-92E0-7F100CB7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81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Monthly Demand 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94C29-33D9-426C-9BAD-4CD2A30C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81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68199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aa03c7016c480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4C74A-5D6B-4F0A-B169-C3679FD0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886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148D9-0E96-4CD3-A8E0-F79DB12F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88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8E02A-1C7D-4790-8629-7E614E1D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FORECAST UNITS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05625-C46D-41D0-8871-9EA42D73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242,443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2432A-C6F1-465B-BFAF-1CC6613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52 weeks • 60 SKUs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CB037-BA73-429F-BA42-60900674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886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BE0BF-99FB-43BA-8948-3C664DC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88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165E0-F4C7-4A4C-93B9-8F3EDA99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FORECAST REVENUE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B2C63-150F-4959-A4FD-3E7F5F73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TRY 397.8M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F47BE-AFFC-4E32-884F-E38C53E7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Expected selling 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E088B-A1AA-4E7A-B2D3-E2E052BC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3886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70AD8-6B0E-441A-9D4F-F99D2A6E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F50C4-3368-479C-987D-4EAE255A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80% Prediction Interval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4B480-D591-40B8-AC55-F51CE83B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530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Lower and upper bands support safety-stock and capacity stress testing.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E0F37-C8B5-4BB0-A4B8-0C9E0D6A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9686689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E678354-E828-4040-B014-C38BCD77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A54F69-22C9-4DED-8780-B39EBE61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Inventory Optimization Logic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1531F92-1950-40CA-AAD8-5001DAA4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Translating forecast uncertainty into purchase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84FA1-2B02-4E9E-8BF7-C724B8B6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03179-481B-46E2-8471-57FC9A13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C6113-E58E-4300-B14A-D76F4E2D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23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F1265-520F-46A7-982B-A7F23DD6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Safety Stock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7AB23-09BC-47A6-886A-4E694B07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B"/>
                </a:solidFill>
              </a:defRPr>
            </a:pPr>
            <a:r>
              <a:rPr sz="1275" b="1">
                <a:solidFill>
                  <a:srgbClr val="0B132B"/>
                </a:solidFill>
              </a:rPr>
              <a:t>z × residual standard deviation × √(lead-time weeks)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EC8AA-487C-4582-B80A-9C511A06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Service-level protection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DB239-4D1B-4214-8109-A08EBA7C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723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99825-8B6A-4813-BDE2-B3E1B812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DCBF4"/>
                </a:solidFill>
              </a:defRPr>
            </a:pPr>
            <a:r>
              <a:rPr sz="1425" b="1">
                <a:solidFill>
                  <a:srgbClr val="6DCBF4"/>
                </a:solidFill>
              </a:rPr>
              <a:t>Reorder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71BAA-A172-4EE0-8C14-1D65D01F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B"/>
                </a:solidFill>
              </a:defRPr>
            </a:pPr>
            <a:r>
              <a:rPr sz="1275" b="1">
                <a:solidFill>
                  <a:srgbClr val="0B132B"/>
                </a:solidFill>
              </a:rPr>
              <a:t>Lead-time demand + safety stock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C18EB-B040-46C4-94C9-152A8669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When should an order be placed?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3B622-6B5E-4075-B3E3-4858656F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723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73C80-1E6A-4168-B860-0333CADF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A558"/>
                </a:solidFill>
              </a:defRPr>
            </a:pPr>
            <a:r>
              <a:rPr sz="1425" b="1">
                <a:solidFill>
                  <a:srgbClr val="18A558"/>
                </a:solidFill>
              </a:rPr>
              <a:t>Economic Order Quantity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E9BD8-DB79-4C1C-A6C4-593273A4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B"/>
                </a:solidFill>
              </a:defRPr>
            </a:pPr>
            <a:r>
              <a:rPr sz="1275" b="1">
                <a:solidFill>
                  <a:srgbClr val="0B132B"/>
                </a:solidFill>
              </a:rPr>
              <a:t>√(2 × annual demand × order cost / holding cost)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25B56-D510-4B26-A5C5-C58B0AFC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How much should be ordered?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AC992-4884-40D8-86F3-058AE0C6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66850"/>
            <a:ext cx="3810000" cy="417195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2061C-A5CF-43B0-BB2F-FC824FF1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</a:defRPr>
            </a:pPr>
            <a:r>
              <a:rPr sz="1800" b="1">
                <a:solidFill>
                  <a:srgbClr val="0B132B"/>
                </a:solidFill>
              </a:rPr>
              <a:t>Business Constraints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85BC3-298D-4777-BAB1-2CFA835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F542F-BD2B-4735-B05C-5D8D9950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Minimum order quantity (MOQ)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8C3E0-42F0-44E1-A03A-359C9077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18266-A9E1-4874-B4D5-056CACB1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908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Case-pack multiple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36DA8-EDCC-40BA-AE2D-57B2BEC2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71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AACEDC-7477-4307-8D26-0D067931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On-hand and on-order inventory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67647-40F8-46B5-A5D3-4CB5F5CA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1E82FE-AD3E-4717-9462-F265132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576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Target service level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05FB11-9A84-43B1-89F8-00C3E5E3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38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AF789B-B257-4D8F-9984-D62C3332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910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Annual holding-cost 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C892EF-A801-413F-94E5-A80C714E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6693266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B31EA78-D540-45C8-9659-B7AC4FAA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AED85B-9DD5-47A1-894D-8DF45A79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Inventory Health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70856CA-080D-49A7-BAE7-0EE9B3B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Coverage, stock exposure, and action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B6792-CAC6-44BD-8B00-68657C65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93EB1-00E4-4F66-85CF-7A40D1C2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F3B15-4AA0-4FDA-BA2D-E422CF6E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858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F7EA8-2F78-4076-9948-8E0D1C42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43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Projected Weeks of Supply by Category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83AC4-11BF-4D26-9F78-1EB2F2F0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64389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f9b8c68abf440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85D56-82C1-486B-AE3E-EA273F3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267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B0F75-EEFD-47A8-83A0-DF42808C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267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DEF72-E9B3-40A1-9BCE-B33D3BF4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AVERAGE WEEKS OF SUPPLY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CB1C6-90AC-4942-86C2-57844806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6215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5.7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67104-50D9-4706-82B7-93F78935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Base scenario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BCF14-4C88-49EB-B90C-D3C5C9A2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4267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ABE4A-3DA7-4977-9791-7452FEC5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8A073-9AB8-41C8-A480-4084C832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Action Distribution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6E02F-80C1-4ADC-9BA3-B8CBDF95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ORDER NOW: 10  •  MONITOR: 5  •  HEALTHY: 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CA996-37D4-4020-B0AF-DB1FD055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52950"/>
            <a:ext cx="4267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64A33-9028-4282-BE76-3731063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52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00CCD-4D5A-4260-BC69-13B58137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545"/>
                </a:solidFill>
              </a:defRPr>
            </a:pPr>
            <a:r>
              <a:rPr sz="1200" b="1">
                <a:solidFill>
                  <a:srgbClr val="D64545"/>
                </a:solidFill>
              </a:rPr>
              <a:t>Priority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37256-DC91-45F6-9366-FEE237C6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Ordering priority combines low weeks of supply with revenue potential and lead-time exposure.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59314-1227-4B81-AB9E-651768A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4124798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77F12F7-3E83-467A-B06A-079B3E1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CA2594-2F5A-4AB1-976C-935FA252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Replenishment Plan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B00ECB1-B193-4609-8537-0074404B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Immediate purchase priorities under the base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6E314-6D9A-4447-8217-A7324FD3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89799-9365-4BA4-9086-612E0B9D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6F64D-A8DD-4C4D-BFC8-69F2D2ED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1912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B4A65-4BFF-43DD-B9DA-72928682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Largest Immediate Order Investments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A31DF-4F4F-431C-8C0C-924692DA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7721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a80fa1605c49c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A5EC2-0A3E-44FE-B6BA-D350C804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7D6DB-CFA0-4BFC-950B-28EC2674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906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SKU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102D9-4844-4DAA-BA2D-904271FF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90675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A5989-9412-495A-AC09-0501EA02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E79B2-4D00-4E27-BC75-39742D92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59067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6F985-8A1C-4A37-BA0C-BB7B5F5A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7167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B170E-48E5-4D19-8376-9B592D9C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DRE-003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03ABA-4D0B-4DE4-B391-17A40C15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Dresses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C52D3-9ADC-4688-A83A-6E776839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383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424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6AA75-ED6C-4E9F-B4BB-2C756469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383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TRY 0.4M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90EAF-1455-44A2-86B7-468E5B6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E0C199-7776-4A0F-A7D4-935BF913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860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DRE-002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6AE0A-BC7B-4B59-8D3B-4503B426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86025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Dresses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FEC6B-0340-4565-998C-AE2DF468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860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336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F7883-12BB-4466-9E6C-FE625176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8602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TRY 0.4M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9B909-F3D9-4858-924C-FB78E092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6702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B0A4C-8E3E-4D31-AE61-2000C03B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DRE-008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0C5BED-F26E-4C1B-A6EF-662A7127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Dresses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34CAB-E290-435A-BDFF-73851808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3370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370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A449B-4538-4148-9CAD-E4077E56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337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TRY 0.4M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AF2276-6811-4349-8294-A5507BD8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E8D222-3753-419E-B45F-ED0A5CAF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BOT-004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5E9D26-C1A0-4276-833C-61F02B18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Bottoms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95A0D8-608C-4368-B511-EEAB5945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813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336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A52A54-ABB5-4D01-9F77-A64CC21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8137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TRY 0.3M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E1D7DF-0137-4EDF-A876-554C5B5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F2DF79-11EF-4A07-9CFB-BCC10F5A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OUT-009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14EE0F-EB49-4D2C-A42A-69B7695E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Outerwear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83CED1-E278-4706-B73E-9086AC3C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290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232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B76F60-A0C3-4402-9532-DE97EE43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TRY 0.3M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BA984A-912B-4EC4-98B0-231D0508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C13ECE-E083-47D4-9E1F-90BEFE42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767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TOP-005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13DDB1-14D6-4B08-8EF3-D852E62A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76725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Tops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046D73-F7AA-4469-B3FA-3327273A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767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444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3441C7-3854-4112-B46A-6565D17E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7672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TRY 0.2M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63FF63-D370-41CE-89A2-89710B56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5772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020228-30AE-4C29-A6EA-F1D2D194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KNI-008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AD770B-97DA-4AD9-A621-E30A428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Knitwear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EF17FD-903D-4A6A-B211-AC6672AE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2440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444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C840DA-DD30-4885-B1FF-956941B1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244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TRY 0.2M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1FD022-73A0-41D5-852C-2E9471C8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7AF33D-8703-4724-9B34-9A15F638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720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KNI-009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C9E782-6695-4140-9FF9-1C48D11C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72075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Knitwear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8E42A2-4F44-4FE1-8022-45FFD6C1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720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336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C6E104-C898-4897-AB1C-FC46D4CE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7207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TRY 0.1M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EFFB41-905D-4D93-B8EE-ECD0FAC2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21265797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30D0602-EAB6-479F-8505-693F60D4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D09E35-0643-47DE-B45B-8D8AD2D5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Supplier Performance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FA1462D-71CE-44C4-8331-3BBBABA3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Lead-time reliability and purchasing exposure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8FA24-E7F6-4BA2-A322-5654174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4D619-CEFC-41E4-87CD-2923375D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00726-EB37-4160-92C1-A63EC824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1912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8A021-CCDF-461F-A25B-09A072F3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Supplier Purchase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3BE90-AC05-474F-AAA4-FB04406D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7721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6541b6eb324e0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7B609-41BE-48B6-97D8-FC11F535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1D8D0-3921-4092-BEA9-30822F83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906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1E03E-1CA1-4C54-BEF6-AC2CB5D3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906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61AD6-F302-40E6-A385-22822F93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90675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Lead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F7DC4-DFA7-4EE4-918E-A8297983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590675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On-time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25D87-5E2F-4440-8739-E13A3DA5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7167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A7D5F-8E8A-41BC-975F-BDC3EB59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24413-9040-4EB4-8FA2-8EA2874E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158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4D5EE-C7B8-41BF-9E2A-BD40945A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13.7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F4188-7E01-43B2-86A4-7FCB000D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038350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8.2%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2C1CD-9EA4-4F2A-A6C6-BB125551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DD950-11EE-468B-B9D6-C39ED3D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860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170D9-33B0-46E7-A633-8CAFFF09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860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12598-8D5B-43C1-8580-96E10FF2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86025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27.6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EF057-D20E-48D8-80AE-984C7CEC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86025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92.6%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426F2-5FE1-450D-8DB0-AD542771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6702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8DD05-23E3-468C-AA65-9A957E62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E1BE47-53CB-4067-A962-CD2D6C88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176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442DE-DDC4-477F-9F8E-29717EC6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33700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33.9 days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E7E759-8156-4C73-BCB7-D15012FF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33700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96.0%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1BA9B5-89E3-42B4-80BB-898A7300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955E83-2049-43FA-B4A3-D3830CF1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3B769C-1072-41E5-A48A-3979C055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175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985436-818F-474C-9B64-3B81432A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81375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20.4 days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E27B9-803D-4F7E-81D0-04F67003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381375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96.6%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25ECA0-66D0-4601-978C-73D31774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9D947B-C1A7-4C8E-B56E-63C97C17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7AD7CF-2722-4624-9DD3-6E074AA9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157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A17C4F-3EE8-40F3-A5C3-A4B828C3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29050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20.6 days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35A23B-EC5C-4817-BD59-95DA9A7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829050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96.2%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AFFC61-7D00-4EA7-912D-C54A1DCA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06F9C0-B3A9-46A3-A074-D364AACC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767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81462E-F6CE-4C0B-B231-0C01153E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767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155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C49B26-4833-42AA-BD63-EF2B8630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76725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13.5 days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1DDF00-80D7-42EF-A7C7-ED92E4E4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276725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98.7%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51179D-AE12-43E2-89E6-F1ACAD9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5772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1F86D5-8268-4664-880E-FE2EED5E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432B96-B2FD-4D51-AB3D-CE04C8E8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4B54F9-70F7-43DD-9A6A-B003D77D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24400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7.0 days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5626E7-89F4-4704-916D-0FF235F9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724400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96.0%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4A5511-88B5-4C5D-AB93-9722E6EA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7A7E64-27F2-4375-B0A1-53D600D2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720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D7237C-2011-440A-A252-27120702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720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87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DE1486-C9FE-451C-85A9-80234B8E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72075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7.1 days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3DFBFC-8414-4337-B97A-8229A7C0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172075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92.0%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05CFF8-6E9E-4B90-9B93-E2B7843B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9274361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D88306B-71BE-43D2-8819-1836BEEC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21B9D4-FEC9-4637-9B03-C427898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Scenario Analysis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49BA045-58A6-4F8C-9D0E-EC3F40E9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Capital and service trade-offs across four planning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6D5F1-8AC9-4761-A285-5055A6DF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A5689-A5F2-4E90-9F51-A4658EB0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2BA55-65C9-4FF1-808B-2E2251BC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B2DC4-827E-488A-8AFF-789C2E54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81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Revenue and Inventory Investment by 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9F0C7-9C12-41D2-B47E-8DACF698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81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68199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2c2272c9494d7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44210-7287-419B-B27C-D7E1FA7F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886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22945-5D1B-4C9E-A6E0-5D5E3875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88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0C6EA-6161-418C-AF93-EDEE5863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BASE INVESTMENT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A19CE-011F-4B82-8C16-B9086861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TRY 5.3M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9F6CC-3104-4A15-9E83-790FCC16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 SKUs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4B21D-090E-4E8E-AC59-360BB75C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886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3005E-66FA-47F4-96E5-C0FFF977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C7B19-4AD2-48DD-B7EF-5479724D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558"/>
                </a:solidFill>
              </a:defRPr>
            </a:pPr>
            <a:r>
              <a:rPr sz="1200" b="1">
                <a:solidFill>
                  <a:srgbClr val="18A558"/>
                </a:solidFill>
              </a:rPr>
              <a:t>Growth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4FD54-9619-4AD3-B12C-F3F085F4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TRY 457.5M revenue; TRY 8.2M investment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2B73D-B436-40D8-A4F0-F956F07F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3886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CBA04-1C79-410E-98E8-10898048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14FAF-5F03-45BA-BB23-168DA76F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545"/>
                </a:solidFill>
              </a:defRPr>
            </a:pPr>
            <a:r>
              <a:rPr sz="1200" b="1">
                <a:solidFill>
                  <a:srgbClr val="D64545"/>
                </a:solidFill>
              </a:rPr>
              <a:t>Resilience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13FA4-32F2-42EB-AC72-1193B34B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A 14-day lead-time shock raises investment to TRY 13.5M.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63DC5-15D1-45D1-89DC-9BF4A0B9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9616884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9AAA739-A04F-4B0F-BB1F-A3EBDBD1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D743ED-4876-4345-A2FC-6AA6F4DC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BI Delivery Layer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858EA5D-B653-4598-9299-60DF32E1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Decision-ready outputs across Power BI, Excel, SQL, PDF, and PowerPoint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C238B-2758-4F68-8E43-C59CEF30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EEF38-0A1F-4FF6-99D7-1ABF133E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CBAB3-43DD-4148-AE84-E5896355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647950" cy="31432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F7468-88C5-4A7F-B6DB-DB78A83C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6C89B-43FB-4EA7-83DD-458520B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</a:defRPr>
            </a:pPr>
            <a:r>
              <a:rPr sz="1800" b="1">
                <a:solidFill>
                  <a:srgbClr val="0B132B"/>
                </a:solidFill>
              </a:rPr>
              <a:t>Power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4849D-529D-47BB-9397-3DBA1F2B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10 pages • 81 visuals • embedded semantic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79C0-B40E-4CCE-8926-BE6EECFC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2647950" cy="31432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E952F-E539-43F2-A075-62C10933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F6EAB-4DA6-48B6-A52B-377792E7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90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</a:defRPr>
            </a:pPr>
            <a:r>
              <a:rPr sz="1800" b="1">
                <a:solidFill>
                  <a:srgbClr val="0B132B"/>
                </a:solidFill>
              </a:rPr>
              <a:t>Excel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3E034-B7C8-481B-8C41-D05F391A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15 sheets • scenario selector • automated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DCB60-3046-47C7-ABC0-1B4A5900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2647950" cy="31432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5A4ED-BA36-4B26-B265-E4338CB9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114EE-6B00-4B09-B05B-EC4F28AD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</a:defRPr>
            </a:pPr>
            <a:r>
              <a:rPr sz="1800" b="1">
                <a:solidFill>
                  <a:srgbClr val="0B132B"/>
                </a:solidFill>
              </a:rPr>
              <a:t>SQL +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835A9-2810-46DA-AE21-3A40112D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SQLite database • 3 forecast models •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F1984-5A24-4D8C-B730-AFBE5B21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2647950" cy="31432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74091-0511-49A1-A267-41FB2DE6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04306-63DE-40DF-9696-68B8187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</a:defRPr>
            </a:pPr>
            <a:r>
              <a:rPr sz="1800" b="1">
                <a:solidFill>
                  <a:srgbClr val="0B132B"/>
                </a:solidFill>
              </a:rPr>
              <a:t>Executive Outputs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5C16B-32DB-4BF2-9CE8-61E7BBB3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337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10-page vector PDF • 20-slide TR + EN decks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C4553-070B-4515-89EF-D829FDF1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B590E-463F-4CC3-A87D-1B6E38B4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CF521-679E-4DF8-AEE9-9E1BCEE2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558"/>
                </a:solidFill>
              </a:defRPr>
            </a:pPr>
            <a:r>
              <a:rPr sz="1200" b="1">
                <a:solidFill>
                  <a:srgbClr val="18A558"/>
                </a:solidFill>
              </a:rPr>
              <a:t>Portfolio advantage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A9D68-402A-4AFF-859C-EEF45733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102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A reviewer can inspect both the executive outcome and the underlying data, code, model, tests, and documentation.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18D30-AAD1-4059-9B6A-A841892E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8644291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67A97AA-492F-416F-8F13-6C582352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7623AA-FC31-4ABE-B934-C048BDA3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Business Recommendations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BC29B82-595F-4A6A-B943-EAB6CE57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A 90-day path to operational adoption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54774-4DB1-4FFB-B813-41A67EF4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8F25D-0266-4C99-8C46-52E00D29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18B5D-4FF8-44F3-A80C-63895C70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562350" cy="40005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AD1D7-2594-425F-A0D1-7586C40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5623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351CD-551C-4BCD-83A9-BDDF9DE5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0-30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BCDC1-3913-41C0-BC13-EA08E87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Validate immediate 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1341D-8B9C-4956-9AFA-D87E52E1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Confirm supplier capacity, case packs, and campaign timing for 10 ORDER NOW SKUs.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E5610-300E-473D-BCF7-C5EB71C9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62100"/>
            <a:ext cx="3562350" cy="40005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14FFE-9CD9-4480-AAC2-4E1DA015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62100"/>
            <a:ext cx="35623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0985F-B84A-40E5-995E-2EC8A591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24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31-60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16D48-FB71-475D-A32B-95E2D5B9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Operationalize forecast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FAADB-F98E-41A7-AD62-C3D75CD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Load actual demand weekly and monitor bias and WAPE by category.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ACB7E-FE24-43FE-B407-F4E8BB0B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562350" cy="40005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83D5D-D650-4EE0-B200-0006FAAA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5623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9CC7C-CD3E-4A1D-8D95-63402D54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24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61-90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8CD56-FFFC-499D-8C56-2B3F9E21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Move to exception 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7E895-508D-47A5-B714-3B3C1CB9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Automate alerts for reorder-point breaches, budget overruns, and high error.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6F3717-E4AB-49FE-B176-59A8E824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7068345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975117-DEF0-4E55-9110-0ED4110C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AD2FB-9992-45ED-BCC9-2BB833A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904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From reporting to forward-looking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1E67E-E5EF-4655-A3F0-DE7648F3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7"/>
                </a:solidFill>
              </a:defRPr>
            </a:pPr>
            <a:r>
              <a:rPr sz="1500" b="0">
                <a:solidFill>
                  <a:srgbClr val="D7E3F7"/>
                </a:solidFill>
              </a:rPr>
              <a:t>A complete portfolio project connecting statistical reasoning, machine learning, inventory mathematics, business intelligence, and executive communication.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56C5F-B9C7-48A3-9F58-FF1FC2C7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Murat Miraç Gedik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B979B-9AFF-4FB9-A1D9-C74A796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CBF4"/>
                </a:solidFill>
              </a:defRPr>
            </a:pPr>
            <a:r>
              <a:rPr sz="1050" b="0">
                <a:solidFill>
                  <a:srgbClr val="6DCBF4"/>
                </a:solidFill>
              </a:rPr>
              <a:t>GitHub • LinkedIn • Business Intelligence • Forecasting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AADAA-7D4F-43A3-96B4-E1794432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DB"/>
                </a:solidFill>
              </a:defRPr>
            </a:pPr>
            <a:r>
              <a:rPr sz="750" b="0">
                <a:solidFill>
                  <a:srgbClr val="B9C7DB"/>
                </a:solidFill>
              </a:rPr>
              <a:t>MonacoLuxe-inspired synthetic portfolio data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790178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2026-07-25T23:08:09.7000000Z</dcterms:created>
  <dcterms:modified xsi:type="dcterms:W3CDTF">2026-07-25T23:08:09.7000000Z</dcterms:modified>
</coreProperties>
</file>